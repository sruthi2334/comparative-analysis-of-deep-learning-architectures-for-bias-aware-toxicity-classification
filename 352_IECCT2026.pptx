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1688" r:id="rId2"/>
    <p:sldId id="1689" r:id="rId3"/>
    <p:sldId id="1690" r:id="rId4"/>
    <p:sldId id="1691" r:id="rId5"/>
    <p:sldId id="1692" r:id="rId6"/>
    <p:sldId id="1699" r:id="rId7"/>
    <p:sldId id="1693" r:id="rId8"/>
    <p:sldId id="1694" r:id="rId9"/>
    <p:sldId id="1700" r:id="rId10"/>
    <p:sldId id="1702" r:id="rId11"/>
    <p:sldId id="1701" r:id="rId12"/>
    <p:sldId id="1703" r:id="rId13"/>
    <p:sldId id="1704" r:id="rId14"/>
    <p:sldId id="1705" r:id="rId15"/>
    <p:sldId id="1695" r:id="rId16"/>
    <p:sldId id="1707" r:id="rId17"/>
    <p:sldId id="1706" r:id="rId18"/>
    <p:sldId id="1696" r:id="rId19"/>
    <p:sldId id="1697" r:id="rId20"/>
    <p:sldId id="1698" r:id="rId21"/>
    <p:sldId id="1708" r:id="rId22"/>
    <p:sldId id="26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B3C"/>
    <a:srgbClr val="C73928"/>
    <a:srgbClr val="F18B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58" d="100"/>
          <a:sy n="58" d="100"/>
        </p:scale>
        <p:origin x="988" y="68"/>
      </p:cViewPr>
      <p:guideLst>
        <p:guide orient="horz" pos="2160"/>
        <p:guide pos="3840"/>
      </p:guideLst>
    </p:cSldViewPr>
  </p:slideViewPr>
  <p:notesTextViewPr>
    <p:cViewPr>
      <p:scale>
        <a:sx n="3" d="2"/>
        <a:sy n="3" d="2"/>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639164-95B6-4F33-AC6F-18511F8EFBBD}" type="datetimeFigureOut">
              <a:rPr lang="en-IN" smtClean="0"/>
              <a:pPr/>
              <a:t>07-04-2026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4E4010-A9C4-4AC1-A862-8B98D35993EF}" type="slidenum">
              <a:rPr lang="en-IN" smtClean="0"/>
              <a:pPr/>
              <a:t>‹#›</a:t>
            </a:fld>
            <a:endParaRPr lang="en-IN"/>
          </a:p>
        </p:txBody>
      </p:sp>
    </p:spTree>
    <p:extLst>
      <p:ext uri="{BB962C8B-B14F-4D97-AF65-F5344CB8AC3E}">
        <p14:creationId xmlns:p14="http://schemas.microsoft.com/office/powerpoint/2010/main" val="227360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2816920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1319528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17874552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85060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1839754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402622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88976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3256093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3397411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376951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1EC79C3-634C-49FA-9D29-4FA86ED0A3E4}" type="datetimeFigureOut">
              <a:rPr lang="en-IN" smtClean="0"/>
              <a:pPr/>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207ACA-ABA0-4CE7-BE0D-23E9C1D5F9ED}" type="slidenum">
              <a:rPr lang="en-IN" smtClean="0"/>
              <a:pPr/>
              <a:t>‹#›</a:t>
            </a:fld>
            <a:endParaRPr lang="en-IN"/>
          </a:p>
        </p:txBody>
      </p:sp>
    </p:spTree>
    <p:extLst>
      <p:ext uri="{BB962C8B-B14F-4D97-AF65-F5344CB8AC3E}">
        <p14:creationId xmlns:p14="http://schemas.microsoft.com/office/powerpoint/2010/main" val="14284514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7" name="Straight Connector 6"/>
          <p:cNvCxnSpPr/>
          <p:nvPr userDrawn="1"/>
        </p:nvCxnSpPr>
        <p:spPr>
          <a:xfrm flipH="1">
            <a:off x="2057006" y="6492194"/>
            <a:ext cx="9540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0" y="0"/>
            <a:ext cx="12191999"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useo 300" pitchFamily="50" charset="0"/>
            </a:endParaRPr>
          </a:p>
        </p:txBody>
      </p:sp>
      <p:sp>
        <p:nvSpPr>
          <p:cNvPr id="9" name="Freeform 6"/>
          <p:cNvSpPr>
            <a:spLocks noChangeAspect="1"/>
          </p:cNvSpPr>
          <p:nvPr userDrawn="1"/>
        </p:nvSpPr>
        <p:spPr bwMode="auto">
          <a:xfrm>
            <a:off x="0" y="190500"/>
            <a:ext cx="779272" cy="475488"/>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prstTxWarp prst="textNoShape">
              <a:avLst/>
            </a:prstTxWarp>
          </a:bodyPr>
          <a:lstStyle/>
          <a:p>
            <a:endParaRPr lang="en-IN" dirty="0">
              <a:latin typeface="Museo 300" pitchFamily="50" charset="0"/>
            </a:endParaRPr>
          </a:p>
        </p:txBody>
      </p:sp>
      <p:sp>
        <p:nvSpPr>
          <p:cNvPr id="10" name="Freeform 14"/>
          <p:cNvSpPr>
            <a:spLocks/>
          </p:cNvSpPr>
          <p:nvPr userDrawn="1"/>
        </p:nvSpPr>
        <p:spPr bwMode="auto">
          <a:xfrm>
            <a:off x="574360" y="190119"/>
            <a:ext cx="680080" cy="609981"/>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vert="horz" wrap="square" lIns="91440" tIns="45720" rIns="91440" bIns="45720" numCol="1" anchor="t" anchorCtr="0" compatLnSpc="1">
            <a:prstTxWarp prst="textNoShape">
              <a:avLst/>
            </a:prstTxWarp>
          </a:bodyPr>
          <a:lstStyle/>
          <a:p>
            <a:endParaRPr lang="en-IN" dirty="0">
              <a:latin typeface="Museo 300" pitchFamily="50" charset="0"/>
            </a:endParaRPr>
          </a:p>
        </p:txBody>
      </p:sp>
      <p:sp>
        <p:nvSpPr>
          <p:cNvPr id="11" name="Freeform 6"/>
          <p:cNvSpPr>
            <a:spLocks noChangeAspect="1"/>
          </p:cNvSpPr>
          <p:nvPr userDrawn="1"/>
        </p:nvSpPr>
        <p:spPr bwMode="auto">
          <a:xfrm>
            <a:off x="11597006" y="6482669"/>
            <a:ext cx="615126" cy="375331"/>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prstTxWarp prst="textNoShape">
              <a:avLst/>
            </a:prstTxWarp>
          </a:bodyPr>
          <a:lstStyle/>
          <a:p>
            <a:endParaRPr lang="en-IN" dirty="0">
              <a:latin typeface="Museo 300" pitchFamily="50" charset="0"/>
            </a:endParaRPr>
          </a:p>
        </p:txBody>
      </p:sp>
      <p:sp>
        <p:nvSpPr>
          <p:cNvPr id="12" name="Slide Number Placeholder 5"/>
          <p:cNvSpPr txBox="1">
            <a:spLocks/>
          </p:cNvSpPr>
          <p:nvPr userDrawn="1"/>
        </p:nvSpPr>
        <p:spPr>
          <a:xfrm>
            <a:off x="11621977" y="6530294"/>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useo 300" pitchFamily="50" charset="0"/>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dirty="0">
              <a:ln>
                <a:noFill/>
              </a:ln>
              <a:solidFill>
                <a:schemeClr val="bg1"/>
              </a:solidFill>
              <a:effectLst/>
              <a:uLnTx/>
              <a:uFillTx/>
              <a:latin typeface="Museo 300" pitchFamily="50" charset="0"/>
              <a:ea typeface="+mn-ea"/>
              <a:cs typeface="+mn-cs"/>
            </a:endParaRPr>
          </a:p>
        </p:txBody>
      </p:sp>
      <p:sp>
        <p:nvSpPr>
          <p:cNvPr id="13" name="TextBox 12"/>
          <p:cNvSpPr txBox="1"/>
          <p:nvPr userDrawn="1"/>
        </p:nvSpPr>
        <p:spPr>
          <a:xfrm>
            <a:off x="57090" y="6574111"/>
            <a:ext cx="12192000" cy="261610"/>
          </a:xfrm>
          <a:prstGeom prst="rect">
            <a:avLst/>
          </a:prstGeom>
          <a:noFill/>
        </p:spPr>
        <p:txBody>
          <a:bodyPr wrap="square" rtlCol="0">
            <a:spAutoFit/>
          </a:bodyPr>
          <a:lstStyle/>
          <a:p>
            <a:r>
              <a:rPr lang="en-IN" sz="1100" b="1" dirty="0">
                <a:solidFill>
                  <a:srgbClr val="C00000"/>
                </a:solidFill>
                <a:latin typeface="Museo 300" panose="02000000000000000000" pitchFamily="50" charset="0"/>
              </a:rPr>
              <a:t>An Autonomous Institute</a:t>
            </a:r>
            <a:r>
              <a:rPr lang="en-IN" sz="1100" b="1" baseline="0"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Affiliated to VTU, </a:t>
            </a:r>
            <a:r>
              <a:rPr lang="en-IN" sz="1100" b="1" dirty="0" err="1">
                <a:solidFill>
                  <a:srgbClr val="C00000"/>
                </a:solidFill>
                <a:latin typeface="Museo 300" panose="02000000000000000000" pitchFamily="50" charset="0"/>
              </a:rPr>
              <a:t>Belagavi</a:t>
            </a:r>
            <a:r>
              <a:rPr lang="en-US" sz="1100" b="1"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Approved By AICTE, New Delhi, Recognized by UGC with 2(f) &amp; 12(B) status</a:t>
            </a:r>
            <a:r>
              <a:rPr lang="en-US" sz="1100" b="1"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Accredited By NBA and NAAC</a:t>
            </a:r>
            <a:endParaRPr lang="en-US" sz="1100" b="1" dirty="0">
              <a:solidFill>
                <a:srgbClr val="C00000"/>
              </a:solidFill>
              <a:latin typeface="Museo 300" panose="02000000000000000000" pitchFamily="50" charset="0"/>
            </a:endParaRPr>
          </a:p>
        </p:txBody>
      </p:sp>
      <p:pic>
        <p:nvPicPr>
          <p:cNvPr id="15" name="Picture 2"/>
          <p:cNvPicPr>
            <a:picLocks noChangeAspect="1" noChangeArrowheads="1"/>
          </p:cNvPicPr>
          <p:nvPr userDrawn="1"/>
        </p:nvPicPr>
        <p:blipFill>
          <a:blip r:embed="rId2" cstate="print"/>
          <a:srcRect/>
          <a:stretch>
            <a:fillRect/>
          </a:stretch>
        </p:blipFill>
        <p:spPr bwMode="auto">
          <a:xfrm>
            <a:off x="57090" y="5760490"/>
            <a:ext cx="1854925" cy="816158"/>
          </a:xfrm>
          <a:prstGeom prst="rect">
            <a:avLst/>
          </a:prstGeom>
          <a:noFill/>
          <a:ln w="9525">
            <a:noFill/>
            <a:miter lim="800000"/>
            <a:headEnd/>
            <a:tailEnd/>
          </a:ln>
          <a:effectLst/>
        </p:spPr>
      </p:pic>
    </p:spTree>
    <p:extLst>
      <p:ext uri="{BB962C8B-B14F-4D97-AF65-F5344CB8AC3E}">
        <p14:creationId xmlns:p14="http://schemas.microsoft.com/office/powerpoint/2010/main" val="3631413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cxnSp>
        <p:nvCxnSpPr>
          <p:cNvPr id="7" name="Straight Connector 6"/>
          <p:cNvCxnSpPr/>
          <p:nvPr userDrawn="1"/>
        </p:nvCxnSpPr>
        <p:spPr>
          <a:xfrm flipH="1">
            <a:off x="2057006" y="6492194"/>
            <a:ext cx="9540000"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 name="Rectangle 7"/>
          <p:cNvSpPr/>
          <p:nvPr userDrawn="1"/>
        </p:nvSpPr>
        <p:spPr>
          <a:xfrm>
            <a:off x="0" y="0"/>
            <a:ext cx="12191999"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useo 300" pitchFamily="50" charset="0"/>
            </a:endParaRPr>
          </a:p>
        </p:txBody>
      </p:sp>
      <p:sp>
        <p:nvSpPr>
          <p:cNvPr id="9" name="Freeform 6"/>
          <p:cNvSpPr>
            <a:spLocks noChangeAspect="1"/>
          </p:cNvSpPr>
          <p:nvPr userDrawn="1"/>
        </p:nvSpPr>
        <p:spPr bwMode="auto">
          <a:xfrm>
            <a:off x="0" y="190500"/>
            <a:ext cx="779272" cy="475488"/>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prstTxWarp prst="textNoShape">
              <a:avLst/>
            </a:prstTxWarp>
          </a:bodyPr>
          <a:lstStyle/>
          <a:p>
            <a:endParaRPr lang="en-IN" dirty="0">
              <a:latin typeface="Museo 300" pitchFamily="50" charset="0"/>
            </a:endParaRPr>
          </a:p>
        </p:txBody>
      </p:sp>
      <p:sp>
        <p:nvSpPr>
          <p:cNvPr id="10" name="Freeform 14"/>
          <p:cNvSpPr>
            <a:spLocks/>
          </p:cNvSpPr>
          <p:nvPr userDrawn="1"/>
        </p:nvSpPr>
        <p:spPr bwMode="auto">
          <a:xfrm>
            <a:off x="574360" y="190119"/>
            <a:ext cx="680080" cy="609981"/>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vert="horz" wrap="square" lIns="91440" tIns="45720" rIns="91440" bIns="45720" numCol="1" anchor="t" anchorCtr="0" compatLnSpc="1">
            <a:prstTxWarp prst="textNoShape">
              <a:avLst/>
            </a:prstTxWarp>
          </a:bodyPr>
          <a:lstStyle/>
          <a:p>
            <a:endParaRPr lang="en-IN" dirty="0">
              <a:latin typeface="Museo 300" pitchFamily="50" charset="0"/>
            </a:endParaRPr>
          </a:p>
        </p:txBody>
      </p:sp>
      <p:sp>
        <p:nvSpPr>
          <p:cNvPr id="11" name="Freeform 6"/>
          <p:cNvSpPr>
            <a:spLocks noChangeAspect="1"/>
          </p:cNvSpPr>
          <p:nvPr userDrawn="1"/>
        </p:nvSpPr>
        <p:spPr bwMode="auto">
          <a:xfrm>
            <a:off x="11597006" y="6482669"/>
            <a:ext cx="615126" cy="375331"/>
          </a:xfrm>
          <a:custGeom>
            <a:avLst/>
            <a:gdLst>
              <a:gd name="T0" fmla="*/ 381 w 708"/>
              <a:gd name="T1" fmla="*/ 0 h 432"/>
              <a:gd name="T2" fmla="*/ 0 w 708"/>
              <a:gd name="T3" fmla="*/ 0 h 432"/>
              <a:gd name="T4" fmla="*/ 0 w 708"/>
              <a:gd name="T5" fmla="*/ 379 h 432"/>
              <a:gd name="T6" fmla="*/ 0 w 708"/>
              <a:gd name="T7" fmla="*/ 432 h 432"/>
              <a:gd name="T8" fmla="*/ 708 w 708"/>
              <a:gd name="T9" fmla="*/ 432 h 432"/>
              <a:gd name="T10" fmla="*/ 381 w 708"/>
              <a:gd name="T11" fmla="*/ 0 h 432"/>
            </a:gdLst>
            <a:ahLst/>
            <a:cxnLst>
              <a:cxn ang="0">
                <a:pos x="T0" y="T1"/>
              </a:cxn>
              <a:cxn ang="0">
                <a:pos x="T2" y="T3"/>
              </a:cxn>
              <a:cxn ang="0">
                <a:pos x="T4" y="T5"/>
              </a:cxn>
              <a:cxn ang="0">
                <a:pos x="T6" y="T7"/>
              </a:cxn>
              <a:cxn ang="0">
                <a:pos x="T8" y="T9"/>
              </a:cxn>
              <a:cxn ang="0">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p:spPr>
        <p:txBody>
          <a:bodyPr vert="horz" wrap="square" lIns="91440" tIns="45720" rIns="91440" bIns="45720" numCol="1" anchor="t" anchorCtr="0" compatLnSpc="1">
            <a:prstTxWarp prst="textNoShape">
              <a:avLst/>
            </a:prstTxWarp>
          </a:bodyPr>
          <a:lstStyle/>
          <a:p>
            <a:endParaRPr lang="en-IN" dirty="0">
              <a:latin typeface="Museo 300" pitchFamily="50" charset="0"/>
            </a:endParaRPr>
          </a:p>
        </p:txBody>
      </p:sp>
      <p:sp>
        <p:nvSpPr>
          <p:cNvPr id="12" name="Slide Number Placeholder 5"/>
          <p:cNvSpPr txBox="1">
            <a:spLocks/>
          </p:cNvSpPr>
          <p:nvPr userDrawn="1"/>
        </p:nvSpPr>
        <p:spPr>
          <a:xfrm>
            <a:off x="11621977" y="6530294"/>
            <a:ext cx="406399" cy="365125"/>
          </a:xfrm>
          <a:prstGeom prst="rect">
            <a:avLst/>
          </a:prstGeom>
        </p:spPr>
        <p:txBody>
          <a:bodyPr/>
          <a:lstStyle/>
          <a:p>
            <a:pPr marL="0" marR="0" lvl="0" indent="0" algn="ctr" defTabSz="914287" rtl="0" eaLnBrk="1" fontAlgn="auto" latinLnBrk="0" hangingPunct="1">
              <a:lnSpc>
                <a:spcPct val="100000"/>
              </a:lnSpc>
              <a:spcBef>
                <a:spcPts val="0"/>
              </a:spcBef>
              <a:spcAft>
                <a:spcPts val="0"/>
              </a:spcAft>
              <a:buClrTx/>
              <a:buSzTx/>
              <a:buFontTx/>
              <a:buNone/>
              <a:tabLst/>
              <a:defRPr/>
            </a:pPr>
            <a:fld id="{73712EF7-039F-497C-B2F5-5E3D3FD47D72}" type="slidenum">
              <a:rPr kumimoji="0" lang="en-US" sz="1300" b="0" i="0" u="none" strike="noStrike" kern="1200" cap="none" spc="0" normalizeH="0" baseline="0" noProof="0" smtClean="0">
                <a:ln>
                  <a:noFill/>
                </a:ln>
                <a:solidFill>
                  <a:schemeClr val="bg1"/>
                </a:solidFill>
                <a:effectLst/>
                <a:uLnTx/>
                <a:uFillTx/>
                <a:latin typeface="Museo 300" pitchFamily="50" charset="0"/>
                <a:ea typeface="+mn-ea"/>
                <a:cs typeface="+mn-cs"/>
              </a:rPr>
              <a:pPr marL="0" marR="0" lvl="0" indent="0" algn="ctr" defTabSz="914287" rtl="0" eaLnBrk="1" fontAlgn="auto" latinLnBrk="0" hangingPunct="1">
                <a:lnSpc>
                  <a:spcPct val="100000"/>
                </a:lnSpc>
                <a:spcBef>
                  <a:spcPts val="0"/>
                </a:spcBef>
                <a:spcAft>
                  <a:spcPts val="0"/>
                </a:spcAft>
                <a:buClrTx/>
                <a:buSzTx/>
                <a:buFontTx/>
                <a:buNone/>
                <a:tabLst/>
                <a:defRPr/>
              </a:pPr>
              <a:t>‹#›</a:t>
            </a:fld>
            <a:endParaRPr kumimoji="0" lang="en-US" sz="1300" b="0" i="0" u="none" strike="noStrike" kern="1200" cap="none" spc="0" normalizeH="0" baseline="0" noProof="0" dirty="0">
              <a:ln>
                <a:noFill/>
              </a:ln>
              <a:solidFill>
                <a:schemeClr val="bg1"/>
              </a:solidFill>
              <a:effectLst/>
              <a:uLnTx/>
              <a:uFillTx/>
              <a:latin typeface="Museo 300" pitchFamily="50" charset="0"/>
              <a:ea typeface="+mn-ea"/>
              <a:cs typeface="+mn-cs"/>
            </a:endParaRPr>
          </a:p>
        </p:txBody>
      </p:sp>
      <p:pic>
        <p:nvPicPr>
          <p:cNvPr id="13" name="Picture 2"/>
          <p:cNvPicPr>
            <a:picLocks noChangeAspect="1" noChangeArrowheads="1"/>
          </p:cNvPicPr>
          <p:nvPr userDrawn="1"/>
        </p:nvPicPr>
        <p:blipFill>
          <a:blip r:embed="rId2" cstate="print"/>
          <a:srcRect/>
          <a:stretch>
            <a:fillRect/>
          </a:stretch>
        </p:blipFill>
        <p:spPr bwMode="auto">
          <a:xfrm>
            <a:off x="169634" y="5887094"/>
            <a:ext cx="1854925" cy="816158"/>
          </a:xfrm>
          <a:prstGeom prst="rect">
            <a:avLst/>
          </a:prstGeom>
          <a:noFill/>
          <a:ln w="9525">
            <a:noFill/>
            <a:miter lim="800000"/>
            <a:headEnd/>
            <a:tailEnd/>
          </a:ln>
          <a:effectLst/>
        </p:spPr>
      </p:pic>
      <p:sp>
        <p:nvSpPr>
          <p:cNvPr id="15" name="TextBox 14"/>
          <p:cNvSpPr txBox="1"/>
          <p:nvPr userDrawn="1"/>
        </p:nvSpPr>
        <p:spPr>
          <a:xfrm>
            <a:off x="57090" y="6574111"/>
            <a:ext cx="12192000" cy="261610"/>
          </a:xfrm>
          <a:prstGeom prst="rect">
            <a:avLst/>
          </a:prstGeom>
          <a:noFill/>
        </p:spPr>
        <p:txBody>
          <a:bodyPr wrap="square" rtlCol="0">
            <a:spAutoFit/>
          </a:bodyPr>
          <a:lstStyle/>
          <a:p>
            <a:r>
              <a:rPr lang="en-IN" sz="1100" b="1" dirty="0">
                <a:solidFill>
                  <a:srgbClr val="C00000"/>
                </a:solidFill>
                <a:latin typeface="Museo 300" panose="02000000000000000000" pitchFamily="50" charset="0"/>
              </a:rPr>
              <a:t>An Autonomous Institute</a:t>
            </a:r>
            <a:r>
              <a:rPr lang="en-IN" sz="1100" b="1" baseline="0"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Affiliated to VTU, </a:t>
            </a:r>
            <a:r>
              <a:rPr lang="en-IN" sz="1100" b="1" dirty="0" err="1">
                <a:solidFill>
                  <a:srgbClr val="C00000"/>
                </a:solidFill>
                <a:latin typeface="Museo 300" panose="02000000000000000000" pitchFamily="50" charset="0"/>
              </a:rPr>
              <a:t>Belagavi</a:t>
            </a:r>
            <a:r>
              <a:rPr lang="en-US" sz="1100" b="1"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Approved By AICTE, New Delhi, Recognized by UGC with 2(f) &amp; 12(B) status</a:t>
            </a:r>
            <a:r>
              <a:rPr lang="en-US" sz="1100" b="1"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Accredited By NBA and NAAC</a:t>
            </a:r>
            <a:endParaRPr lang="en-US" sz="1100" b="1" dirty="0">
              <a:solidFill>
                <a:srgbClr val="C00000"/>
              </a:solidFill>
              <a:latin typeface="Museo 300" panose="02000000000000000000" pitchFamily="50" charset="0"/>
            </a:endParaRPr>
          </a:p>
        </p:txBody>
      </p:sp>
    </p:spTree>
    <p:extLst>
      <p:ext uri="{BB962C8B-B14F-4D97-AF65-F5344CB8AC3E}">
        <p14:creationId xmlns:p14="http://schemas.microsoft.com/office/powerpoint/2010/main" val="1494407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Museo 300" pitchFamily="50" charset="0"/>
              </a:defRPr>
            </a:lvl1pPr>
          </a:lstStyle>
          <a:p>
            <a:fld id="{21EC79C3-634C-49FA-9D29-4FA86ED0A3E4}" type="datetimeFigureOut">
              <a:rPr lang="en-IN" smtClean="0"/>
              <a:pPr/>
              <a:t>07-04-2026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useo 300" pitchFamily="50" charset="0"/>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Museo 300" pitchFamily="50" charset="0"/>
              </a:defRPr>
            </a:lvl1pPr>
          </a:lstStyle>
          <a:p>
            <a:fld id="{CF207ACA-ABA0-4CE7-BE0D-23E9C1D5F9ED}" type="slidenum">
              <a:rPr lang="en-IN" smtClean="0"/>
              <a:pPr/>
              <a:t>‹#›</a:t>
            </a:fld>
            <a:endParaRPr lang="en-IN" dirty="0"/>
          </a:p>
        </p:txBody>
      </p:sp>
    </p:spTree>
    <p:extLst>
      <p:ext uri="{BB962C8B-B14F-4D97-AF65-F5344CB8AC3E}">
        <p14:creationId xmlns:p14="http://schemas.microsoft.com/office/powerpoint/2010/main" val="3148625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4"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useo 3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useo 3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useo 3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useo 3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useo 3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2.xml"/><Relationship Id="rId4" Type="http://schemas.openxmlformats.org/officeDocument/2006/relationships/image" Target="../media/image17.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BFF1F8-BDA8-2CB2-4FDE-11EACE4F33CF}"/>
              </a:ext>
            </a:extLst>
          </p:cNvPr>
          <p:cNvPicPr>
            <a:picLocks noChangeAspect="1"/>
          </p:cNvPicPr>
          <p:nvPr/>
        </p:nvPicPr>
        <p:blipFill>
          <a:blip r:embed="rId2"/>
          <a:stretch>
            <a:fillRect/>
          </a:stretch>
        </p:blipFill>
        <p:spPr>
          <a:xfrm>
            <a:off x="5379559" y="217752"/>
            <a:ext cx="2624866" cy="1463040"/>
          </a:xfrm>
          <a:prstGeom prst="rect">
            <a:avLst/>
          </a:prstGeom>
        </p:spPr>
      </p:pic>
      <p:pic>
        <p:nvPicPr>
          <p:cNvPr id="5" name="Picture 4">
            <a:extLst>
              <a:ext uri="{FF2B5EF4-FFF2-40B4-BE49-F238E27FC236}">
                <a16:creationId xmlns:a16="http://schemas.microsoft.com/office/drawing/2014/main" id="{DECEEA74-55CB-5A1B-EF6E-9C4E4EA4909F}"/>
              </a:ext>
            </a:extLst>
          </p:cNvPr>
          <p:cNvPicPr>
            <a:picLocks noChangeAspect="1"/>
          </p:cNvPicPr>
          <p:nvPr/>
        </p:nvPicPr>
        <p:blipFill>
          <a:blip r:embed="rId3"/>
          <a:stretch>
            <a:fillRect/>
          </a:stretch>
        </p:blipFill>
        <p:spPr>
          <a:xfrm>
            <a:off x="1385636" y="130538"/>
            <a:ext cx="2817599" cy="1080889"/>
          </a:xfrm>
          <a:prstGeom prst="rect">
            <a:avLst/>
          </a:prstGeom>
        </p:spPr>
      </p:pic>
      <p:pic>
        <p:nvPicPr>
          <p:cNvPr id="9" name="Picture 8">
            <a:extLst>
              <a:ext uri="{FF2B5EF4-FFF2-40B4-BE49-F238E27FC236}">
                <a16:creationId xmlns:a16="http://schemas.microsoft.com/office/drawing/2014/main" id="{154011F2-7FB0-6E8D-DB40-5C8463AAF74C}"/>
              </a:ext>
            </a:extLst>
          </p:cNvPr>
          <p:cNvPicPr>
            <a:picLocks noChangeAspect="1"/>
          </p:cNvPicPr>
          <p:nvPr/>
        </p:nvPicPr>
        <p:blipFill>
          <a:blip r:embed="rId4"/>
          <a:stretch>
            <a:fillRect/>
          </a:stretch>
        </p:blipFill>
        <p:spPr>
          <a:xfrm>
            <a:off x="10357072" y="217752"/>
            <a:ext cx="1645576" cy="906462"/>
          </a:xfrm>
          <a:prstGeom prst="rect">
            <a:avLst/>
          </a:prstGeom>
        </p:spPr>
      </p:pic>
      <p:sp>
        <p:nvSpPr>
          <p:cNvPr id="11" name="TextBox 10">
            <a:extLst>
              <a:ext uri="{FF2B5EF4-FFF2-40B4-BE49-F238E27FC236}">
                <a16:creationId xmlns:a16="http://schemas.microsoft.com/office/drawing/2014/main" id="{1C4D3C3E-9AA8-C591-2F3F-5FC1B50995B8}"/>
              </a:ext>
            </a:extLst>
          </p:cNvPr>
          <p:cNvSpPr txBox="1"/>
          <p:nvPr/>
        </p:nvSpPr>
        <p:spPr>
          <a:xfrm>
            <a:off x="991891" y="1680792"/>
            <a:ext cx="10678333" cy="954107"/>
          </a:xfrm>
          <a:prstGeom prst="rect">
            <a:avLst/>
          </a:prstGeom>
          <a:noFill/>
        </p:spPr>
        <p:txBody>
          <a:bodyPr wrap="square">
            <a:spAutoFit/>
          </a:bodyPr>
          <a:lstStyle/>
          <a:p>
            <a:pPr algn="ctr"/>
            <a:r>
              <a:rPr lang="en-US" sz="2800" b="1" i="0" u="none" strike="noStrike" baseline="0" dirty="0">
                <a:latin typeface="Times New Roman" panose="02020603050405020304" pitchFamily="18" charset="0"/>
                <a:cs typeface="Times New Roman" panose="02020603050405020304" pitchFamily="18" charset="0"/>
              </a:rPr>
              <a:t>International Conference on Recent Advancement in Electrical, Computer and </a:t>
            </a:r>
            <a:r>
              <a:rPr lang="en-IN" sz="2800" b="1" i="0" u="none" strike="noStrike" baseline="0" dirty="0">
                <a:latin typeface="Times New Roman" panose="02020603050405020304" pitchFamily="18" charset="0"/>
                <a:cs typeface="Times New Roman" panose="02020603050405020304" pitchFamily="18" charset="0"/>
              </a:rPr>
              <a:t>Communication Technologies</a:t>
            </a:r>
            <a:endParaRPr lang="en-IN" sz="28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DEC2267-9FD9-413C-A4EB-582B7C72E2E0}"/>
              </a:ext>
            </a:extLst>
          </p:cNvPr>
          <p:cNvSpPr txBox="1"/>
          <p:nvPr/>
        </p:nvSpPr>
        <p:spPr>
          <a:xfrm>
            <a:off x="3270142" y="2634899"/>
            <a:ext cx="6121830" cy="523220"/>
          </a:xfrm>
          <a:prstGeom prst="rect">
            <a:avLst/>
          </a:prstGeom>
          <a:noFill/>
        </p:spPr>
        <p:txBody>
          <a:bodyPr wrap="square">
            <a:spAutoFit/>
          </a:bodyPr>
          <a:lstStyle/>
          <a:p>
            <a:pPr algn="ctr"/>
            <a:r>
              <a:rPr lang="en-IN" sz="2800" b="1" i="0" u="none" strike="noStrike" baseline="0" dirty="0">
                <a:solidFill>
                  <a:srgbClr val="C00000"/>
                </a:solidFill>
                <a:latin typeface="Times New Roman" panose="02020603050405020304" pitchFamily="18" charset="0"/>
                <a:cs typeface="Times New Roman" panose="02020603050405020304" pitchFamily="18" charset="0"/>
              </a:rPr>
              <a:t>IECCT 2026</a:t>
            </a:r>
            <a:endParaRPr lang="en-IN" sz="2800" b="1" dirty="0">
              <a:solidFill>
                <a:srgbClr val="C0000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07262C6-0CC2-77F9-A194-8346C1FDAE31}"/>
              </a:ext>
            </a:extLst>
          </p:cNvPr>
          <p:cNvSpPr txBox="1"/>
          <p:nvPr/>
        </p:nvSpPr>
        <p:spPr>
          <a:xfrm>
            <a:off x="5992826" y="5734373"/>
            <a:ext cx="1847172" cy="400110"/>
          </a:xfrm>
          <a:prstGeom prst="rect">
            <a:avLst/>
          </a:prstGeom>
          <a:noFill/>
        </p:spPr>
        <p:txBody>
          <a:bodyPr wrap="none" rtlCol="0">
            <a:spAutoFit/>
          </a:bodyPr>
          <a:lstStyle/>
          <a:p>
            <a:r>
              <a:rPr lang="en-US" sz="2000" b="1" dirty="0">
                <a:solidFill>
                  <a:srgbClr val="C00000"/>
                </a:solidFill>
                <a:latin typeface="Times New Roman" panose="02020603050405020304" pitchFamily="18" charset="0"/>
                <a:cs typeface="Times New Roman" panose="02020603050405020304" pitchFamily="18" charset="0"/>
              </a:rPr>
              <a:t>Paper ID - 352 </a:t>
            </a:r>
            <a:endParaRPr lang="en-IN" sz="2000" b="1" dirty="0">
              <a:solidFill>
                <a:srgbClr val="C00000"/>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29969E1E-D49C-4328-830E-B347945D0E7F}"/>
              </a:ext>
            </a:extLst>
          </p:cNvPr>
          <p:cNvSpPr txBox="1"/>
          <p:nvPr/>
        </p:nvSpPr>
        <p:spPr>
          <a:xfrm>
            <a:off x="1385636" y="3881393"/>
            <a:ext cx="9521850" cy="830997"/>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Comparative Analysis of Deep Learning Architectures for Bias-Aware Toxicity Classification.</a:t>
            </a:r>
            <a:endParaRPr lang="en-IN" sz="2400" b="1"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63F5CB1-6F30-7CE4-0600-8492F92529BD}"/>
              </a:ext>
            </a:extLst>
          </p:cNvPr>
          <p:cNvSpPr txBox="1"/>
          <p:nvPr/>
        </p:nvSpPr>
        <p:spPr>
          <a:xfrm>
            <a:off x="153200" y="5177208"/>
            <a:ext cx="1960858" cy="369332"/>
          </a:xfrm>
          <a:prstGeom prst="rect">
            <a:avLst/>
          </a:prstGeom>
          <a:noFill/>
        </p:spPr>
        <p:txBody>
          <a:bodyPr wrap="none" rtlCol="0">
            <a:spAutoFit/>
          </a:bodyPr>
          <a:lstStyle/>
          <a:p>
            <a:r>
              <a:rPr lang="en-US" b="1" dirty="0">
                <a:solidFill>
                  <a:srgbClr val="002060"/>
                </a:solidFill>
                <a:latin typeface="Times New Roman" panose="02020603050405020304" pitchFamily="18" charset="0"/>
                <a:cs typeface="Times New Roman" panose="02020603050405020304" pitchFamily="18" charset="0"/>
              </a:rPr>
              <a:t>Date – 11.04.2026 </a:t>
            </a:r>
            <a:endParaRPr lang="en-IN"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7674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00958-FADE-CB8D-5001-E57ECC590834}"/>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313AD464-08C3-84E1-1EDB-FF55923D2802}"/>
              </a:ext>
            </a:extLst>
          </p:cNvPr>
          <p:cNvSpPr txBox="1">
            <a:spLocks/>
          </p:cNvSpPr>
          <p:nvPr/>
        </p:nvSpPr>
        <p:spPr>
          <a:xfrm>
            <a:off x="1566500" y="294480"/>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Table of Contents</a:t>
            </a:r>
            <a:endParaRPr lang="en-US" sz="2800" b="1" spc="-1" dirty="0">
              <a:latin typeface="Times New Roman" panose="02020603050405020304" pitchFamily="18" charset="0"/>
              <a:cs typeface="Times New Roman" panose="02020603050405020304" pitchFamily="18" charset="0"/>
            </a:endParaRPr>
          </a:p>
        </p:txBody>
      </p:sp>
      <p:sp>
        <p:nvSpPr>
          <p:cNvPr id="3" name="PlaceHolder 1">
            <a:extLst>
              <a:ext uri="{FF2B5EF4-FFF2-40B4-BE49-F238E27FC236}">
                <a16:creationId xmlns:a16="http://schemas.microsoft.com/office/drawing/2014/main" id="{9595D4D6-0AA8-20F7-95DB-1B101AEA26AB}"/>
              </a:ext>
            </a:extLst>
          </p:cNvPr>
          <p:cNvSpPr txBox="1">
            <a:spLocks/>
          </p:cNvSpPr>
          <p:nvPr/>
        </p:nvSpPr>
        <p:spPr>
          <a:xfrm>
            <a:off x="838080" y="1376280"/>
            <a:ext cx="9682560" cy="4469400"/>
          </a:xfrm>
          <a:prstGeom prst="rect">
            <a:avLst/>
          </a:prstGeom>
          <a:noFill/>
          <a:ln w="0">
            <a:noFill/>
          </a:ln>
        </p:spPr>
        <p:txBody>
          <a:bodyPr lIns="91440" tIns="45720" rIns="91440" bIns="4572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useo 300"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useo 300"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useo 300"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useo 300"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useo 3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Abstract</a:t>
            </a: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Introduction</a:t>
            </a: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Literature Review</a:t>
            </a: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Objectives</a:t>
            </a:r>
          </a:p>
          <a:p>
            <a:pPr marL="457200" indent="-457200" algn="just">
              <a:lnSpc>
                <a:spcPct val="100000"/>
              </a:lnSpc>
              <a:spcBef>
                <a:spcPts val="575"/>
              </a:spcBef>
              <a:buClr>
                <a:srgbClr val="000000"/>
              </a:buClr>
              <a:buFont typeface="+mj-lt"/>
              <a:buAutoNum type="arabicPeriod"/>
            </a:pPr>
            <a:r>
              <a:rPr lang="en-IN" sz="2400" spc="-1" dirty="0">
                <a:latin typeface="Times New Roman" panose="02020603050405020304" pitchFamily="18" charset="0"/>
                <a:cs typeface="Times New Roman" panose="02020603050405020304" pitchFamily="18" charset="0"/>
              </a:rPr>
              <a:t>System Modelling / Methodology</a:t>
            </a:r>
            <a:endParaRPr lang="en-US" sz="2400" spc="-1" dirty="0">
              <a:latin typeface="Times New Roman" panose="02020603050405020304" pitchFamily="18" charset="0"/>
              <a:cs typeface="Times New Roman" panose="02020603050405020304" pitchFamily="18" charset="0"/>
            </a:endParaRP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Results and Discussions</a:t>
            </a: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Conclusions</a:t>
            </a: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Future Scope</a:t>
            </a:r>
          </a:p>
          <a:p>
            <a:pPr marL="457200" indent="-457200" algn="just">
              <a:lnSpc>
                <a:spcPct val="100000"/>
              </a:lnSpc>
              <a:spcBef>
                <a:spcPts val="575"/>
              </a:spcBef>
              <a:buClr>
                <a:srgbClr val="000000"/>
              </a:buClr>
              <a:buFont typeface="+mj-lt"/>
              <a:buAutoNum type="arabicPeriod"/>
            </a:pPr>
            <a:r>
              <a:rPr lang="en-US" sz="2400" spc="-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420962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B9B10-8A23-7C6B-6ED2-2B2F720569B4}"/>
            </a:ext>
          </a:extLst>
        </p:cNvPr>
        <p:cNvGrpSpPr/>
        <p:nvPr/>
      </p:nvGrpSpPr>
      <p:grpSpPr>
        <a:xfrm>
          <a:off x="0" y="0"/>
          <a:ext cx="0" cy="0"/>
          <a:chOff x="0" y="0"/>
          <a:chExt cx="0" cy="0"/>
        </a:xfrm>
      </p:grpSpPr>
      <p:sp>
        <p:nvSpPr>
          <p:cNvPr id="4" name="PlaceHolder 1">
            <a:extLst>
              <a:ext uri="{FF2B5EF4-FFF2-40B4-BE49-F238E27FC236}">
                <a16:creationId xmlns:a16="http://schemas.microsoft.com/office/drawing/2014/main" id="{72678A78-4CDF-11F5-5DE7-37DE23BF3046}"/>
              </a:ext>
            </a:extLst>
          </p:cNvPr>
          <p:cNvSpPr txBox="1">
            <a:spLocks/>
          </p:cNvSpPr>
          <p:nvPr/>
        </p:nvSpPr>
        <p:spPr>
          <a:xfrm>
            <a:off x="1251857" y="697997"/>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1. Abstract</a:t>
            </a:r>
            <a:endParaRPr lang="en-US" sz="2800" b="1" spc="-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9BE8F43-B572-308B-BF4B-6EEC8D4C5DC4}"/>
              </a:ext>
            </a:extLst>
          </p:cNvPr>
          <p:cNvSpPr txBox="1"/>
          <p:nvPr/>
        </p:nvSpPr>
        <p:spPr>
          <a:xfrm>
            <a:off x="1251857" y="1969659"/>
            <a:ext cx="9688285" cy="2308324"/>
          </a:xfrm>
          <a:prstGeom prst="rect">
            <a:avLst/>
          </a:prstGeom>
          <a:noFill/>
        </p:spPr>
        <p:txBody>
          <a:bodyPr wrap="square">
            <a:spAutoFit/>
          </a:bodyPr>
          <a:lstStyle/>
          <a:p>
            <a:r>
              <a:rPr lang="en-IN" dirty="0"/>
              <a:t>Automated toxicity detection systems often exhibit unintended bias, falsely associating identity-related terms such as race, religion, and gender with harmful content. This paper compares two deep learning architectures, PH-MSA (Parallel Hybrid with Multi-Head Self-Attention), combining multi-scale CNNs and </a:t>
            </a:r>
            <a:r>
              <a:rPr lang="en-IN" dirty="0" err="1"/>
              <a:t>BiGRU</a:t>
            </a:r>
            <a:r>
              <a:rPr lang="en-IN" dirty="0"/>
              <a:t>, and TFRD (</a:t>
            </a:r>
            <a:r>
              <a:rPr lang="en-IN" dirty="0" err="1"/>
              <a:t>TinyBERT</a:t>
            </a:r>
            <a:r>
              <a:rPr lang="en-IN" dirty="0"/>
              <a:t> with Fairness-Regularized Distillation), a teacher-student framework with demographic fairness regularization, evaluated on the Jigsaw Unintended Bias dataset. Results show that PH-MSA achieves higher accuracy (95%) and precision (0.78), while TFRD delivers a superior macro-F1 score (0.80) with more balanced performance across identity groups, confirming that fairness-aware training is essential for equitable toxicity detection.</a:t>
            </a:r>
          </a:p>
        </p:txBody>
      </p:sp>
    </p:spTree>
    <p:extLst>
      <p:ext uri="{BB962C8B-B14F-4D97-AF65-F5344CB8AC3E}">
        <p14:creationId xmlns:p14="http://schemas.microsoft.com/office/powerpoint/2010/main" val="22607221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E84F-201C-39D3-BE86-C7A193C99BDA}"/>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2B0179B3-E933-9069-EFD2-BB83934D1D31}"/>
              </a:ext>
            </a:extLst>
          </p:cNvPr>
          <p:cNvSpPr txBox="1">
            <a:spLocks/>
          </p:cNvSpPr>
          <p:nvPr/>
        </p:nvSpPr>
        <p:spPr>
          <a:xfrm>
            <a:off x="1272033" y="294480"/>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2. </a:t>
            </a:r>
            <a:r>
              <a:rPr lang="en-US" sz="2800" b="1" spc="-1"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3BE2CC3E-6310-A087-BECC-02300B6A2D5D}"/>
              </a:ext>
            </a:extLst>
          </p:cNvPr>
          <p:cNvSpPr txBox="1"/>
          <p:nvPr/>
        </p:nvSpPr>
        <p:spPr>
          <a:xfrm>
            <a:off x="929931" y="1305341"/>
            <a:ext cx="10332138" cy="4247317"/>
          </a:xfrm>
          <a:prstGeom prst="rect">
            <a:avLst/>
          </a:prstGeom>
          <a:noFill/>
        </p:spPr>
        <p:txBody>
          <a:bodyPr wrap="square">
            <a:spAutoFit/>
          </a:bodyPr>
          <a:lstStyle/>
          <a:p>
            <a:r>
              <a:rPr lang="en-IN" dirty="0"/>
              <a:t>Online platforms have become breeding grounds for toxic content, including hate speech and identity-based harassment, posing serious threats to vulnerable communities.</a:t>
            </a:r>
          </a:p>
          <a:p>
            <a:endParaRPr lang="en-IN" dirty="0"/>
          </a:p>
          <a:p>
            <a:r>
              <a:rPr lang="en-IN" dirty="0"/>
              <a:t>Deep learning models outperform traditional rule-based methods in toxicity detection, but two key challenges remain:</a:t>
            </a:r>
          </a:p>
          <a:p>
            <a:pPr marL="285750" indent="-285750">
              <a:buFont typeface="Arial" panose="020B0604020202020204" pitchFamily="34" charset="0"/>
              <a:buChar char="•"/>
            </a:pPr>
            <a:r>
              <a:rPr lang="en-IN" dirty="0"/>
              <a:t>Capturing long-range contextual dependencies in text.</a:t>
            </a:r>
          </a:p>
          <a:p>
            <a:pPr marL="285750" indent="-285750">
              <a:buFont typeface="Arial" panose="020B0604020202020204" pitchFamily="34" charset="0"/>
              <a:buChar char="•"/>
            </a:pPr>
            <a:r>
              <a:rPr lang="en-IN" dirty="0"/>
              <a:t>Mitigating unintended demographic bias, where models wrongly link identity terms (race, religion, gender) with toxicity.</a:t>
            </a:r>
          </a:p>
          <a:p>
            <a:endParaRPr lang="en-IN" dirty="0"/>
          </a:p>
          <a:p>
            <a:r>
              <a:rPr lang="en-IN" dirty="0"/>
              <a:t>Most existing models are optimized for classification accuracy alone, ignoring fairness across demographic groups. This study compares two architectures designed to tackle both challenges. </a:t>
            </a:r>
          </a:p>
          <a:p>
            <a:endParaRPr lang="en-IN" dirty="0"/>
          </a:p>
          <a:p>
            <a:r>
              <a:rPr lang="en-IN" dirty="0"/>
              <a:t>PH-MSA focuses on rich contextual feature extraction via parallel CNN and </a:t>
            </a:r>
            <a:r>
              <a:rPr lang="en-IN" dirty="0" err="1"/>
              <a:t>BiGRU</a:t>
            </a:r>
            <a:r>
              <a:rPr lang="en-IN" dirty="0"/>
              <a:t>. TFRD focuses on fairness through knowledge distillation with demographic regularization. Both models are evaluated on the Jigsaw Unintended Bias in Toxicity Classification dataset.</a:t>
            </a:r>
          </a:p>
        </p:txBody>
      </p:sp>
    </p:spTree>
    <p:extLst>
      <p:ext uri="{BB962C8B-B14F-4D97-AF65-F5344CB8AC3E}">
        <p14:creationId xmlns:p14="http://schemas.microsoft.com/office/powerpoint/2010/main" val="4164182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3C399D-F25F-EF69-7E1D-882BB2459038}"/>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5A26EAAB-FC3C-F8CE-5905-77330E61F9B9}"/>
              </a:ext>
            </a:extLst>
          </p:cNvPr>
          <p:cNvSpPr txBox="1">
            <a:spLocks/>
          </p:cNvSpPr>
          <p:nvPr/>
        </p:nvSpPr>
        <p:spPr>
          <a:xfrm>
            <a:off x="1520005" y="278982"/>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3.1 Literature Review</a:t>
            </a:r>
            <a:endParaRPr lang="en-US" sz="2800" b="1" spc="-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7FE3255-3D70-E364-B344-437DC43C6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289" y="952542"/>
            <a:ext cx="10521421" cy="4795199"/>
          </a:xfrm>
          <a:prstGeom prst="rect">
            <a:avLst/>
          </a:prstGeom>
        </p:spPr>
      </p:pic>
    </p:spTree>
    <p:extLst>
      <p:ext uri="{BB962C8B-B14F-4D97-AF65-F5344CB8AC3E}">
        <p14:creationId xmlns:p14="http://schemas.microsoft.com/office/powerpoint/2010/main" val="3954363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74B90-DF70-35F2-4CF1-E9A6D1118733}"/>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98497FC9-9A85-C975-9AA2-8A8ADB7540B6}"/>
              </a:ext>
            </a:extLst>
          </p:cNvPr>
          <p:cNvSpPr txBox="1">
            <a:spLocks/>
          </p:cNvSpPr>
          <p:nvPr/>
        </p:nvSpPr>
        <p:spPr>
          <a:xfrm>
            <a:off x="1520005" y="278982"/>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3.2 Research Gap and Key Contributions</a:t>
            </a:r>
            <a:endParaRPr lang="en-US" sz="2800" b="1" spc="-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27D1D94-1B69-CE1F-E67B-6727A5D83CFC}"/>
              </a:ext>
            </a:extLst>
          </p:cNvPr>
          <p:cNvSpPr txBox="1"/>
          <p:nvPr/>
        </p:nvSpPr>
        <p:spPr>
          <a:xfrm>
            <a:off x="555171" y="1028343"/>
            <a:ext cx="11081657" cy="4801314"/>
          </a:xfrm>
          <a:prstGeom prst="rect">
            <a:avLst/>
          </a:prstGeom>
          <a:noFill/>
        </p:spPr>
        <p:txBody>
          <a:bodyPr wrap="square">
            <a:spAutoFit/>
          </a:bodyPr>
          <a:lstStyle/>
          <a:p>
            <a:r>
              <a:rPr lang="en-US" b="1" dirty="0"/>
              <a:t>Research Gaps: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Most existing toxicity detection models focus only on accuracy and F1-score, while largely ignoring demographic bias and offering little transparency in their decision-making process.</a:t>
            </a:r>
          </a:p>
          <a:p>
            <a:pPr marL="285750" indent="-285750">
              <a:buFont typeface="Arial" panose="020B0604020202020204" pitchFamily="34" charset="0"/>
              <a:buChar char="•"/>
            </a:pPr>
            <a:r>
              <a:rPr lang="en-US" dirty="0"/>
              <a:t>Although hybrid models improve classification performance, they still lack dedicated bias mitigation mechanisms, and very few studies have compared fairness-aware and architecture-driven approaches side by side.</a:t>
            </a:r>
          </a:p>
          <a:p>
            <a:pPr marL="285750" indent="-285750">
              <a:buFont typeface="Arial" panose="020B0604020202020204" pitchFamily="34" charset="0"/>
              <a:buChar char="•"/>
            </a:pPr>
            <a:r>
              <a:rPr lang="en-US" dirty="0"/>
              <a:t>There is also limited work on balancing precision-recall trade-offs with fairness, and almost no evaluation of these models from a real-world deployment or ethical AI standpoint.</a:t>
            </a:r>
          </a:p>
          <a:p>
            <a:endParaRPr lang="en-US" dirty="0"/>
          </a:p>
          <a:p>
            <a:r>
              <a:rPr lang="en-US" b="1" dirty="0"/>
              <a:t>Key Contributions: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We proposed two architectures — TFRD, which integrates fairness-regularized distillation with bias-aware loss, and PH-MSA, which captures both local and long-range contextual features using a parallel hybrid design.</a:t>
            </a:r>
          </a:p>
          <a:p>
            <a:pPr marL="285750" indent="-285750">
              <a:buFont typeface="Arial" panose="020B0604020202020204" pitchFamily="34" charset="0"/>
              <a:buChar char="•"/>
            </a:pPr>
            <a:r>
              <a:rPr lang="en-US" dirty="0"/>
              <a:t>Both models were systematically compared under identical experimental settings, evaluating not just classification performance but also fairness and real-world deployment trade-offs.</a:t>
            </a:r>
          </a:p>
          <a:p>
            <a:pPr marL="285750" indent="-285750">
              <a:buFont typeface="Arial" panose="020B0604020202020204" pitchFamily="34" charset="0"/>
              <a:buChar char="•"/>
            </a:pPr>
            <a:r>
              <a:rPr lang="en-US" dirty="0"/>
              <a:t>Our results show that TFRD performs better in Macro-F1 and minority class detection, while PH-MSA achieves higher precision, offering clear guidance on which model suits which deployment scenario.</a:t>
            </a:r>
            <a:endParaRPr lang="en-IN" dirty="0"/>
          </a:p>
        </p:txBody>
      </p:sp>
    </p:spTree>
    <p:extLst>
      <p:ext uri="{BB962C8B-B14F-4D97-AF65-F5344CB8AC3E}">
        <p14:creationId xmlns:p14="http://schemas.microsoft.com/office/powerpoint/2010/main" val="3052638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CBDC3-711F-FD97-098A-0E3EE1FB0593}"/>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A3EE8F20-DD95-3738-C480-FBD573302DC4}"/>
              </a:ext>
            </a:extLst>
          </p:cNvPr>
          <p:cNvSpPr txBox="1">
            <a:spLocks/>
          </p:cNvSpPr>
          <p:nvPr/>
        </p:nvSpPr>
        <p:spPr>
          <a:xfrm>
            <a:off x="1551002" y="216988"/>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a:latin typeface="Times New Roman" panose="02020603050405020304" pitchFamily="18" charset="0"/>
                <a:ea typeface="Calibri"/>
                <a:cs typeface="Times New Roman" panose="02020603050405020304" pitchFamily="18" charset="0"/>
              </a:rPr>
              <a:t>4. Objectives</a:t>
            </a:r>
            <a:endParaRPr lang="en-US" sz="2800" b="1"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DDAEC56-9372-9542-62B4-14E02D037E82}"/>
              </a:ext>
            </a:extLst>
          </p:cNvPr>
          <p:cNvSpPr txBox="1"/>
          <p:nvPr/>
        </p:nvSpPr>
        <p:spPr>
          <a:xfrm>
            <a:off x="862691" y="890548"/>
            <a:ext cx="10514520" cy="4524315"/>
          </a:xfrm>
          <a:prstGeom prst="rect">
            <a:avLst/>
          </a:prstGeom>
          <a:noFill/>
        </p:spPr>
        <p:txBody>
          <a:bodyPr wrap="square">
            <a:spAutoFit/>
          </a:bodyPr>
          <a:lstStyle/>
          <a:p>
            <a:r>
              <a:rPr lang="en-IN" dirty="0"/>
              <a:t>The key objects of this paper are to:</a:t>
            </a:r>
          </a:p>
          <a:p>
            <a:endParaRPr lang="en-IN" dirty="0"/>
          </a:p>
          <a:p>
            <a:pPr marL="285750" indent="-285750">
              <a:buFont typeface="Arial" panose="020B0604020202020204" pitchFamily="34" charset="0"/>
              <a:buChar char="•"/>
            </a:pPr>
            <a:r>
              <a:rPr lang="en-IN" dirty="0"/>
              <a:t>To design and implement a Parallel Hybrid Multi-Scale Attention (PH-MSA) architecture that captures both local lexical and long-range contextual features for toxicity classification.</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develop a Tiny BERT with Fairness-Regularized Distillation (TFRD) framework that explicitly minimizes demographic bias during training using identity-aware loss components.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evaluate both models on the Jigsaw Unintended Bias dataset using standard metrics — accuracy, precision, recall, and macro-F1.</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assess fairness across identity subgroups by measuring FPR disparity, FNR disparity, and Equalized Odds Gap.</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perform a comparative analysis of both architectures in terms of classification performance, fairness, and deployment suitability.</a:t>
            </a:r>
          </a:p>
        </p:txBody>
      </p:sp>
    </p:spTree>
    <p:extLst>
      <p:ext uri="{BB962C8B-B14F-4D97-AF65-F5344CB8AC3E}">
        <p14:creationId xmlns:p14="http://schemas.microsoft.com/office/powerpoint/2010/main" val="38575726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FCBF7-568F-09AA-A566-6F543934B55A}"/>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9EC555DF-4676-8907-18F9-5C974975A310}"/>
              </a:ext>
            </a:extLst>
          </p:cNvPr>
          <p:cNvSpPr txBox="1">
            <a:spLocks/>
          </p:cNvSpPr>
          <p:nvPr/>
        </p:nvSpPr>
        <p:spPr>
          <a:xfrm>
            <a:off x="1256534" y="170494"/>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5. System Modelling / Methodology</a:t>
            </a:r>
            <a:endParaRPr lang="en-US" sz="2800" b="1"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6955915-E58F-6437-D136-16EF9B59A1AE}"/>
              </a:ext>
            </a:extLst>
          </p:cNvPr>
          <p:cNvSpPr txBox="1"/>
          <p:nvPr/>
        </p:nvSpPr>
        <p:spPr>
          <a:xfrm>
            <a:off x="511177" y="3429000"/>
            <a:ext cx="11169646" cy="2308324"/>
          </a:xfrm>
          <a:prstGeom prst="rect">
            <a:avLst/>
          </a:prstGeom>
          <a:noFill/>
        </p:spPr>
        <p:txBody>
          <a:bodyPr wrap="square">
            <a:spAutoFit/>
          </a:bodyPr>
          <a:lstStyle/>
          <a:p>
            <a:r>
              <a:rPr lang="en-IN" dirty="0"/>
              <a:t>The pipeline begins with data preprocessing — text normalization, removal of URLs, HTML tags and special characters, and binarization of toxicity scores using a threshold of 0.5</a:t>
            </a:r>
          </a:p>
          <a:p>
            <a:r>
              <a:rPr lang="en-IN" dirty="0"/>
              <a:t>A stratified sample of 100,000 comments was drawn from the Jigsaw dataset, preserving the original 8% toxic and 92% non-toxic class distribution.</a:t>
            </a:r>
          </a:p>
          <a:p>
            <a:r>
              <a:rPr lang="en-IN" dirty="0"/>
              <a:t>The pre-processed data was split and fed into two separate deep learning architectures, PH-MSA and TFRD, each trained under reproducible conditions with random seed 42.</a:t>
            </a:r>
          </a:p>
          <a:p>
            <a:r>
              <a:rPr lang="en-IN" dirty="0"/>
              <a:t>Both models were evaluated using accuracy, precision, recall, macro-F1, and fairness metrics including FPR disparity, FNR disparity, and Equalized Odds Gap.</a:t>
            </a:r>
          </a:p>
        </p:txBody>
      </p:sp>
      <p:pic>
        <p:nvPicPr>
          <p:cNvPr id="6" name="Picture 5">
            <a:extLst>
              <a:ext uri="{FF2B5EF4-FFF2-40B4-BE49-F238E27FC236}">
                <a16:creationId xmlns:a16="http://schemas.microsoft.com/office/drawing/2014/main" id="{40A74C37-3519-25CD-E7DC-6B9E89FBF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7667" y="1005290"/>
            <a:ext cx="7136665" cy="2262474"/>
          </a:xfrm>
          <a:prstGeom prst="rect">
            <a:avLst/>
          </a:prstGeom>
        </p:spPr>
      </p:pic>
    </p:spTree>
    <p:extLst>
      <p:ext uri="{BB962C8B-B14F-4D97-AF65-F5344CB8AC3E}">
        <p14:creationId xmlns:p14="http://schemas.microsoft.com/office/powerpoint/2010/main" val="153464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FE15343-83DE-8C17-3ADC-379A42B62D9F}"/>
              </a:ext>
            </a:extLst>
          </p:cNvPr>
          <p:cNvSpPr txBox="1"/>
          <p:nvPr/>
        </p:nvSpPr>
        <p:spPr>
          <a:xfrm>
            <a:off x="1410158" y="311093"/>
            <a:ext cx="10455007" cy="1384995"/>
          </a:xfrm>
          <a:prstGeom prst="rect">
            <a:avLst/>
          </a:prstGeom>
          <a:noFill/>
        </p:spPr>
        <p:txBody>
          <a:bodyPr wrap="square">
            <a:spAutoFit/>
          </a:bodyPr>
          <a:lstStyle/>
          <a:p>
            <a:r>
              <a:rPr lang="en-IN" sz="2800" b="1" dirty="0"/>
              <a:t>5.1 Proposed Model 1 — </a:t>
            </a:r>
            <a:r>
              <a:rPr lang="en-US" sz="2800" b="1" dirty="0"/>
              <a:t>PH-MSA: Parallel Hybrid with Multi-Head Self-Attention</a:t>
            </a:r>
          </a:p>
          <a:p>
            <a:endParaRPr lang="en-IN" sz="2800" b="1" dirty="0"/>
          </a:p>
        </p:txBody>
      </p:sp>
      <p:pic>
        <p:nvPicPr>
          <p:cNvPr id="8" name="Picture 7">
            <a:extLst>
              <a:ext uri="{FF2B5EF4-FFF2-40B4-BE49-F238E27FC236}">
                <a16:creationId xmlns:a16="http://schemas.microsoft.com/office/drawing/2014/main" id="{7F9E277D-C2C5-26AE-4089-B64CDD916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838" y="1208896"/>
            <a:ext cx="10982323" cy="2999547"/>
          </a:xfrm>
          <a:prstGeom prst="rect">
            <a:avLst/>
          </a:prstGeom>
        </p:spPr>
      </p:pic>
      <p:sp>
        <p:nvSpPr>
          <p:cNvPr id="11" name="TextBox 10">
            <a:extLst>
              <a:ext uri="{FF2B5EF4-FFF2-40B4-BE49-F238E27FC236}">
                <a16:creationId xmlns:a16="http://schemas.microsoft.com/office/drawing/2014/main" id="{29618419-E75F-B954-F04A-5431D29A0165}"/>
              </a:ext>
            </a:extLst>
          </p:cNvPr>
          <p:cNvSpPr txBox="1"/>
          <p:nvPr/>
        </p:nvSpPr>
        <p:spPr>
          <a:xfrm>
            <a:off x="604838" y="4294467"/>
            <a:ext cx="11124453"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The </a:t>
            </a:r>
            <a:r>
              <a:rPr kumimoji="0" lang="en-US" altLang="en-US" sz="1800" b="1" i="0" u="none" strike="noStrike" cap="none" normalizeH="0" baseline="0" dirty="0">
                <a:ln>
                  <a:noFill/>
                </a:ln>
                <a:solidFill>
                  <a:schemeClr val="tx1"/>
                </a:solidFill>
                <a:effectLst/>
                <a:latin typeface="Google Sans Text"/>
              </a:rPr>
              <a:t>PH-MSA (Parallel Hybrid with Multi-Head Self-Attention)</a:t>
            </a:r>
            <a:r>
              <a:rPr kumimoji="0" lang="en-US" altLang="en-US" sz="1800" b="0" i="0" u="none" strike="noStrike" cap="none" normalizeH="0" baseline="0" dirty="0">
                <a:ln>
                  <a:noFill/>
                </a:ln>
                <a:solidFill>
                  <a:schemeClr val="tx1"/>
                </a:solidFill>
                <a:effectLst/>
                <a:latin typeface="Google Sans Text"/>
              </a:rPr>
              <a:t> model is designed to capture a comprehensive representation of text by simultaneously analyzing local patterns and global context. Unlike traditional sequential models, it uses a branched approach to ensure no critical features are lost during the encoding process.</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091942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97A5E0B-BB17-CA60-DE0C-C491A980E559}"/>
              </a:ext>
            </a:extLst>
          </p:cNvPr>
          <p:cNvSpPr txBox="1"/>
          <p:nvPr/>
        </p:nvSpPr>
        <p:spPr>
          <a:xfrm>
            <a:off x="738130" y="995704"/>
            <a:ext cx="10510092" cy="1200329"/>
          </a:xfrm>
          <a:prstGeom prst="rect">
            <a:avLst/>
          </a:prstGeom>
          <a:noFill/>
        </p:spPr>
        <p:txBody>
          <a:bodyPr wrap="square">
            <a:spAutoFit/>
          </a:bodyPr>
          <a:lstStyle/>
          <a:p>
            <a:r>
              <a:rPr lang="en-US" b="1" dirty="0"/>
              <a:t>Stage 1: Text Representation &amp; Embedding:</a:t>
            </a:r>
            <a:r>
              <a:rPr lang="en-US" dirty="0"/>
              <a:t> </a:t>
            </a:r>
          </a:p>
          <a:p>
            <a:r>
              <a:rPr lang="en-US" dirty="0"/>
              <a:t>Raw comments undergo standardized preprocessing—including normalization and URL removal—before being converted into token sequences. These sequences are mapped to 300-dimensional </a:t>
            </a:r>
            <a:r>
              <a:rPr lang="en-US" dirty="0" err="1"/>
              <a:t>GloVe</a:t>
            </a:r>
            <a:r>
              <a:rPr lang="en-US" dirty="0"/>
              <a:t> embeddings and passed through a Spatial Dropout layer to enhance model generalization.</a:t>
            </a:r>
            <a:endParaRPr lang="en-IN" dirty="0"/>
          </a:p>
        </p:txBody>
      </p:sp>
      <p:sp>
        <p:nvSpPr>
          <p:cNvPr id="8" name="Rectangle 2">
            <a:extLst>
              <a:ext uri="{FF2B5EF4-FFF2-40B4-BE49-F238E27FC236}">
                <a16:creationId xmlns:a16="http://schemas.microsoft.com/office/drawing/2014/main" id="{8B024262-FFF9-ADDC-4A68-833FB9256557}"/>
              </a:ext>
            </a:extLst>
          </p:cNvPr>
          <p:cNvSpPr>
            <a:spLocks noChangeArrowheads="1"/>
          </p:cNvSpPr>
          <p:nvPr/>
        </p:nvSpPr>
        <p:spPr bwMode="auto">
          <a:xfrm>
            <a:off x="738130" y="2159422"/>
            <a:ext cx="10730429" cy="2539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Stage 2: Parallel Feature Learning (The Two-Branch Approach):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The embedded text is processed through two simultaneous channels to extract different types of linguistic information: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Local Branch (Multi-Scale CNN): </a:t>
            </a:r>
            <a:r>
              <a:rPr kumimoji="0" lang="en-US" altLang="en-US" sz="1800" i="0" u="none" strike="noStrike" cap="none" normalizeH="0" baseline="0" dirty="0">
                <a:ln>
                  <a:noFill/>
                </a:ln>
                <a:solidFill>
                  <a:schemeClr val="tx1"/>
                </a:solidFill>
                <a:effectLst/>
                <a:latin typeface="Google Sans Text"/>
              </a:rPr>
              <a:t>Uses three parallel 1D-convolutional layers with kernel sizes of 3, 4, and 5 to identify local lexical patterns, such as specific toxic keywords or short phrases, followed by Global Max Pooling.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Global Branch (</a:t>
            </a:r>
            <a:r>
              <a:rPr kumimoji="0" lang="en-US" altLang="en-US" sz="1800" b="1" i="0" u="none" strike="noStrike" cap="none" normalizeH="0" baseline="0" dirty="0" err="1">
                <a:ln>
                  <a:noFill/>
                </a:ln>
                <a:solidFill>
                  <a:schemeClr val="tx1"/>
                </a:solidFill>
                <a:effectLst/>
                <a:latin typeface="Google Sans Text"/>
              </a:rPr>
              <a:t>BiGRU</a:t>
            </a:r>
            <a:r>
              <a:rPr kumimoji="0" lang="en-US" altLang="en-US" sz="1800" b="1" i="0" u="none" strike="noStrike" cap="none" normalizeH="0" baseline="0" dirty="0">
                <a:ln>
                  <a:noFill/>
                </a:ln>
                <a:solidFill>
                  <a:schemeClr val="tx1"/>
                </a:solidFill>
                <a:effectLst/>
                <a:latin typeface="Google Sans Text"/>
              </a:rPr>
              <a:t> + MSA): </a:t>
            </a:r>
            <a:r>
              <a:rPr kumimoji="0" lang="en-US" altLang="en-US" sz="1800" i="0" u="none" strike="noStrike" cap="none" normalizeH="0" baseline="0" dirty="0">
                <a:ln>
                  <a:noFill/>
                </a:ln>
                <a:solidFill>
                  <a:schemeClr val="tx1"/>
                </a:solidFill>
                <a:effectLst/>
                <a:latin typeface="Google Sans Text"/>
              </a:rPr>
              <a:t>Employs a Bidirectional GRU to capture long-range dependencies, paired with a Multi-Head Self-Attention mechanism that weighs the importance of different words in a sentence. This branch concludes with Layer Normalization and Global Average Pooling.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58B56193-CCEA-6839-74A9-F742F7038E41}"/>
              </a:ext>
            </a:extLst>
          </p:cNvPr>
          <p:cNvSpPr txBox="1"/>
          <p:nvPr/>
        </p:nvSpPr>
        <p:spPr>
          <a:xfrm>
            <a:off x="723441" y="4477035"/>
            <a:ext cx="10631277" cy="1200329"/>
          </a:xfrm>
          <a:prstGeom prst="rect">
            <a:avLst/>
          </a:prstGeom>
          <a:noFill/>
        </p:spPr>
        <p:txBody>
          <a:bodyPr wrap="square">
            <a:spAutoFit/>
          </a:bodyPr>
          <a:lstStyle/>
          <a:p>
            <a:r>
              <a:rPr lang="en-US" b="1" dirty="0"/>
              <a:t>Stage 3: Feature Fusion &amp; Classification</a:t>
            </a:r>
            <a:r>
              <a:rPr lang="en-US" dirty="0"/>
              <a:t>:</a:t>
            </a:r>
          </a:p>
          <a:p>
            <a:r>
              <a:rPr lang="en-US" dirty="0"/>
              <a:t>The outputs from both the CNN and </a:t>
            </a:r>
            <a:r>
              <a:rPr lang="en-US" dirty="0" err="1"/>
              <a:t>BiGRU</a:t>
            </a:r>
            <a:r>
              <a:rPr lang="en-US" dirty="0"/>
              <a:t>-Attention branches are merged into a single Concatenated Feature Vector. This integrated representation is fed through Dense layers with </a:t>
            </a:r>
            <a:r>
              <a:rPr lang="en-US" dirty="0" err="1"/>
              <a:t>ReLU</a:t>
            </a:r>
            <a:r>
              <a:rPr lang="en-US" dirty="0"/>
              <a:t> activation and a final Sigmoid function to determine the probability of toxicity.</a:t>
            </a:r>
            <a:endParaRPr lang="en-IN" dirty="0"/>
          </a:p>
        </p:txBody>
      </p:sp>
    </p:spTree>
    <p:extLst>
      <p:ext uri="{BB962C8B-B14F-4D97-AF65-F5344CB8AC3E}">
        <p14:creationId xmlns:p14="http://schemas.microsoft.com/office/powerpoint/2010/main" val="2840091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F6960C-47E8-79C9-8729-46F0D1B7D600}"/>
              </a:ext>
            </a:extLst>
          </p:cNvPr>
          <p:cNvSpPr txBox="1"/>
          <p:nvPr/>
        </p:nvSpPr>
        <p:spPr>
          <a:xfrm>
            <a:off x="1366091" y="388211"/>
            <a:ext cx="10260375" cy="1384995"/>
          </a:xfrm>
          <a:prstGeom prst="rect">
            <a:avLst/>
          </a:prstGeom>
          <a:noFill/>
        </p:spPr>
        <p:txBody>
          <a:bodyPr wrap="square">
            <a:spAutoFit/>
          </a:bodyPr>
          <a:lstStyle/>
          <a:p>
            <a:r>
              <a:rPr lang="en-IN" sz="2800" b="1" dirty="0"/>
              <a:t>5.2 Proposed Model 2 — TFRD Methodology: Fairness-Regularized Distillation.</a:t>
            </a:r>
          </a:p>
          <a:p>
            <a:endParaRPr lang="en-IN" sz="2800" b="1" dirty="0"/>
          </a:p>
        </p:txBody>
      </p:sp>
      <p:sp>
        <p:nvSpPr>
          <p:cNvPr id="8" name="TextBox 7">
            <a:extLst>
              <a:ext uri="{FF2B5EF4-FFF2-40B4-BE49-F238E27FC236}">
                <a16:creationId xmlns:a16="http://schemas.microsoft.com/office/drawing/2014/main" id="{1233702B-97B8-9C0C-E37A-98DF66C5E4EC}"/>
              </a:ext>
            </a:extLst>
          </p:cNvPr>
          <p:cNvSpPr txBox="1"/>
          <p:nvPr/>
        </p:nvSpPr>
        <p:spPr>
          <a:xfrm>
            <a:off x="565530" y="4818558"/>
            <a:ext cx="11060935" cy="92333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The </a:t>
            </a:r>
            <a:r>
              <a:rPr kumimoji="0" lang="en-US" altLang="en-US" sz="1800" b="1" i="0" u="none" strike="noStrike" cap="none" normalizeH="0" baseline="0" dirty="0">
                <a:ln>
                  <a:noFill/>
                </a:ln>
                <a:solidFill>
                  <a:schemeClr val="tx1"/>
                </a:solidFill>
                <a:effectLst/>
                <a:latin typeface="Google Sans Text"/>
              </a:rPr>
              <a:t>TFRD (</a:t>
            </a:r>
            <a:r>
              <a:rPr kumimoji="0" lang="en-US" altLang="en-US" sz="1800" b="1" i="0" u="none" strike="noStrike" cap="none" normalizeH="0" baseline="0" dirty="0" err="1">
                <a:ln>
                  <a:noFill/>
                </a:ln>
                <a:solidFill>
                  <a:schemeClr val="tx1"/>
                </a:solidFill>
                <a:effectLst/>
                <a:latin typeface="Google Sans Text"/>
              </a:rPr>
              <a:t>TinyBERT</a:t>
            </a:r>
            <a:r>
              <a:rPr kumimoji="0" lang="en-US" altLang="en-US" sz="1800" b="1" i="0" u="none" strike="noStrike" cap="none" normalizeH="0" baseline="0" dirty="0">
                <a:ln>
                  <a:noFill/>
                </a:ln>
                <a:solidFill>
                  <a:schemeClr val="tx1"/>
                </a:solidFill>
                <a:effectLst/>
                <a:latin typeface="Google Sans Text"/>
              </a:rPr>
              <a:t> with Fairness-Regularized Distillation)</a:t>
            </a:r>
            <a:r>
              <a:rPr kumimoji="0" lang="en-US" altLang="en-US" sz="1800" b="0" i="0" u="none" strike="noStrike" cap="none" normalizeH="0" baseline="0" dirty="0">
                <a:ln>
                  <a:noFill/>
                </a:ln>
                <a:solidFill>
                  <a:schemeClr val="tx1"/>
                </a:solidFill>
                <a:effectLst/>
                <a:latin typeface="Google Sans Text"/>
              </a:rPr>
              <a:t> framework focuses on creating a compact, high-performance model that actively mitigates demographic bias. It uses a teacher-student learning strategy to maintain the linguistic intelligence of large models while enforcing strict fairness constraints.</a:t>
            </a:r>
            <a:endParaRPr kumimoji="0" lang="en-US" altLang="en-US" sz="1800" b="0" i="0" u="none" strike="noStrike" cap="none" normalizeH="0" baseline="0" dirty="0">
              <a:ln>
                <a:noFill/>
              </a:ln>
              <a:solidFill>
                <a:schemeClr val="tx1"/>
              </a:solidFill>
              <a:effectLst/>
            </a:endParaRPr>
          </a:p>
        </p:txBody>
      </p:sp>
      <p:pic>
        <p:nvPicPr>
          <p:cNvPr id="10" name="Picture 9">
            <a:extLst>
              <a:ext uri="{FF2B5EF4-FFF2-40B4-BE49-F238E27FC236}">
                <a16:creationId xmlns:a16="http://schemas.microsoft.com/office/drawing/2014/main" id="{CD12CDCD-F8A1-99A1-A790-4D720D858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2227" y="1353265"/>
            <a:ext cx="7647543" cy="3465293"/>
          </a:xfrm>
          <a:prstGeom prst="rect">
            <a:avLst/>
          </a:prstGeom>
        </p:spPr>
      </p:pic>
    </p:spTree>
    <p:extLst>
      <p:ext uri="{BB962C8B-B14F-4D97-AF65-F5344CB8AC3E}">
        <p14:creationId xmlns:p14="http://schemas.microsoft.com/office/powerpoint/2010/main" val="64256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5F40F1-078B-7288-8A1C-B13EF1C39B64}"/>
              </a:ext>
            </a:extLst>
          </p:cNvPr>
          <p:cNvSpPr txBox="1"/>
          <p:nvPr/>
        </p:nvSpPr>
        <p:spPr>
          <a:xfrm>
            <a:off x="683045" y="984687"/>
            <a:ext cx="10862631"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Stage 1: Input Representation &amp; Teacher Guidance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Google Sans Text"/>
              </a:rPr>
              <a:t> Raw text is processed using the Tiny BERT tokenizer to generate input IDs and attention masks. The system employs a dual-network setup where a large, pre-trained BERT-base (12 layers) acts as a frozen teacher to provide high-level contextual logits that guide the learning of a smaller 4-layer Tiny BERT student.</a:t>
            </a:r>
            <a:endParaRPr kumimoji="0" lang="en-US" altLang="en-US" sz="1800" i="0" u="none" strike="noStrike" cap="none" normalizeH="0" baseline="0" dirty="0">
              <a:ln>
                <a:noFill/>
              </a:ln>
              <a:solidFill>
                <a:schemeClr val="tx1"/>
              </a:solidFill>
              <a:effectLst/>
            </a:endParaRPr>
          </a:p>
        </p:txBody>
      </p:sp>
      <p:sp>
        <p:nvSpPr>
          <p:cNvPr id="9" name="TextBox 8">
            <a:extLst>
              <a:ext uri="{FF2B5EF4-FFF2-40B4-BE49-F238E27FC236}">
                <a16:creationId xmlns:a16="http://schemas.microsoft.com/office/drawing/2014/main" id="{D2131475-9F1A-651F-8055-628CF991B6F0}"/>
              </a:ext>
            </a:extLst>
          </p:cNvPr>
          <p:cNvSpPr txBox="1"/>
          <p:nvPr/>
        </p:nvSpPr>
        <p:spPr>
          <a:xfrm>
            <a:off x="683045" y="2185016"/>
            <a:ext cx="10708396" cy="2308324"/>
          </a:xfrm>
          <a:prstGeom prst="rect">
            <a:avLst/>
          </a:prstGeom>
          <a:noFill/>
        </p:spPr>
        <p:txBody>
          <a:bodyPr wrap="square">
            <a:spAutoFit/>
          </a:bodyPr>
          <a:lstStyle/>
          <a:p>
            <a:r>
              <a:rPr lang="en-US" b="1" dirty="0"/>
              <a:t>Stage 2: Multi-Objective Training &amp; Distillation:</a:t>
            </a:r>
          </a:p>
          <a:p>
            <a:r>
              <a:rPr lang="en-US" dirty="0"/>
              <a:t>The student model is optimized using a weighted combination of three distinct signals to balance accuracy and equity.</a:t>
            </a:r>
          </a:p>
          <a:p>
            <a:pPr marL="285750" indent="-285750">
              <a:buFont typeface="Arial" panose="020B0604020202020204" pitchFamily="34" charset="0"/>
              <a:buChar char="•"/>
            </a:pPr>
            <a:r>
              <a:rPr lang="en-US" b="1" dirty="0"/>
              <a:t>Task Loss</a:t>
            </a:r>
            <a:r>
              <a:rPr lang="en-US" dirty="0"/>
              <a:t>: Standard binary cross-entropy to ensure correct toxicity classification.</a:t>
            </a:r>
          </a:p>
          <a:p>
            <a:pPr marL="285750" indent="-285750">
              <a:buFont typeface="Arial" panose="020B0604020202020204" pitchFamily="34" charset="0"/>
              <a:buChar char="•"/>
            </a:pPr>
            <a:r>
              <a:rPr lang="en-US" b="1" dirty="0"/>
              <a:t>Distillation Loss: </a:t>
            </a:r>
            <a:r>
              <a:rPr lang="en-US" dirty="0"/>
              <a:t>Uses KL Divergence and temperature scaling to align the student’s predictions with the teacher's nuanced understanding.</a:t>
            </a:r>
          </a:p>
          <a:p>
            <a:pPr marL="285750" indent="-285750">
              <a:buFont typeface="Arial" panose="020B0604020202020204" pitchFamily="34" charset="0"/>
              <a:buChar char="•"/>
            </a:pPr>
            <a:r>
              <a:rPr lang="en-US" b="1" dirty="0"/>
              <a:t>Fairness Regularization: </a:t>
            </a:r>
            <a:r>
              <a:rPr lang="en-US" dirty="0"/>
              <a:t>Specifically designed to minimize the "gap" in error rates (False Positive/Negative rates) across different identity groups, such as race or religion.</a:t>
            </a:r>
            <a:endParaRPr lang="en-IN" dirty="0"/>
          </a:p>
        </p:txBody>
      </p:sp>
      <p:sp>
        <p:nvSpPr>
          <p:cNvPr id="17" name="TextBox 16">
            <a:extLst>
              <a:ext uri="{FF2B5EF4-FFF2-40B4-BE49-F238E27FC236}">
                <a16:creationId xmlns:a16="http://schemas.microsoft.com/office/drawing/2014/main" id="{3B1D9070-014D-CC09-F83A-D05F440FDCEA}"/>
              </a:ext>
            </a:extLst>
          </p:cNvPr>
          <p:cNvSpPr txBox="1"/>
          <p:nvPr/>
        </p:nvSpPr>
        <p:spPr>
          <a:xfrm>
            <a:off x="683045" y="4493340"/>
            <a:ext cx="10825910"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Stage 3: Optimized Prediction: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i="0" u="none" strike="noStrike" cap="none" normalizeH="0" baseline="0" dirty="0">
                <a:ln>
                  <a:noFill/>
                </a:ln>
                <a:solidFill>
                  <a:schemeClr val="tx1"/>
                </a:solidFill>
                <a:effectLst/>
                <a:latin typeface="Google Sans Text"/>
              </a:rPr>
              <a:t> The final output is produced by the distilled Tiny BERT student, which passes the processed features through a Dropout layer and a Linear Classifier. A Sigmoid function then converts these signals into a final toxicity probability, resulting in a model that is both computationally efficient and socially responsible.</a:t>
            </a:r>
            <a:endParaRPr kumimoji="0" lang="en-US" altLang="en-US" sz="180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860199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BFF0FA-9EFB-5FA5-0D84-699C429A2538}"/>
              </a:ext>
            </a:extLst>
          </p:cNvPr>
          <p:cNvSpPr txBox="1"/>
          <p:nvPr/>
        </p:nvSpPr>
        <p:spPr>
          <a:xfrm>
            <a:off x="1362419" y="330506"/>
            <a:ext cx="10829581" cy="523220"/>
          </a:xfrm>
          <a:prstGeom prst="rect">
            <a:avLst/>
          </a:prstGeom>
          <a:noFill/>
        </p:spPr>
        <p:txBody>
          <a:bodyPr wrap="square" rtlCol="0">
            <a:spAutoFit/>
          </a:bodyPr>
          <a:lstStyle/>
          <a:p>
            <a:r>
              <a:rPr lang="en-IN" sz="2800" b="1" dirty="0"/>
              <a:t>5.3 Hyperparameter Comparison</a:t>
            </a:r>
          </a:p>
        </p:txBody>
      </p:sp>
      <p:pic>
        <p:nvPicPr>
          <p:cNvPr id="5" name="Picture 4">
            <a:extLst>
              <a:ext uri="{FF2B5EF4-FFF2-40B4-BE49-F238E27FC236}">
                <a16:creationId xmlns:a16="http://schemas.microsoft.com/office/drawing/2014/main" id="{44081AD7-2926-B58A-FC80-E1499281CF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190" y="1005617"/>
            <a:ext cx="6062031" cy="4846765"/>
          </a:xfrm>
          <a:prstGeom prst="rect">
            <a:avLst/>
          </a:prstGeom>
        </p:spPr>
      </p:pic>
      <p:sp>
        <p:nvSpPr>
          <p:cNvPr id="7" name="TextBox 6">
            <a:extLst>
              <a:ext uri="{FF2B5EF4-FFF2-40B4-BE49-F238E27FC236}">
                <a16:creationId xmlns:a16="http://schemas.microsoft.com/office/drawing/2014/main" id="{2C200374-CC9A-7ED9-53E8-525A1568AF13}"/>
              </a:ext>
            </a:extLst>
          </p:cNvPr>
          <p:cNvSpPr txBox="1"/>
          <p:nvPr/>
        </p:nvSpPr>
        <p:spPr>
          <a:xfrm>
            <a:off x="6951642" y="1483698"/>
            <a:ext cx="4483866" cy="3416320"/>
          </a:xfrm>
          <a:prstGeom prst="rect">
            <a:avLst/>
          </a:prstGeom>
          <a:noFill/>
        </p:spPr>
        <p:txBody>
          <a:bodyPr wrap="square">
            <a:spAutoFit/>
          </a:bodyPr>
          <a:lstStyle/>
          <a:p>
            <a:pPr marL="285750" indent="-285750">
              <a:buFont typeface="Arial" panose="020B0604020202020204" pitchFamily="34" charset="0"/>
              <a:buChar char="•"/>
            </a:pPr>
            <a:r>
              <a:rPr lang="en-IN" dirty="0"/>
              <a:t>Both models trained on the same 100,000-sample Jigsaw subset with random seed = 42 for reproducibility.</a:t>
            </a:r>
          </a:p>
          <a:p>
            <a:endParaRPr lang="en-IN" dirty="0"/>
          </a:p>
          <a:p>
            <a:pPr marL="285750" indent="-285750">
              <a:buFont typeface="Arial" panose="020B0604020202020204" pitchFamily="34" charset="0"/>
              <a:buChar char="•"/>
            </a:pPr>
            <a:r>
              <a:rPr lang="en-IN" dirty="0"/>
              <a:t>Training hyperparameters differ by architectural necessity, transformer fine-tuning requires smaller learning rate and fewer epochs to avoid catastrophic forgetting of pre-trained weights.</a:t>
            </a:r>
          </a:p>
          <a:p>
            <a:endParaRPr lang="en-IN" dirty="0"/>
          </a:p>
          <a:p>
            <a:pPr marL="285750" indent="-285750">
              <a:buFont typeface="Arial" panose="020B0604020202020204" pitchFamily="34" charset="0"/>
              <a:buChar char="•"/>
            </a:pPr>
            <a:r>
              <a:rPr lang="en-IN" dirty="0"/>
              <a:t>Best checkpoint selected based on validation AUC for both models.</a:t>
            </a:r>
          </a:p>
        </p:txBody>
      </p:sp>
    </p:spTree>
    <p:extLst>
      <p:ext uri="{BB962C8B-B14F-4D97-AF65-F5344CB8AC3E}">
        <p14:creationId xmlns:p14="http://schemas.microsoft.com/office/powerpoint/2010/main" val="2015211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92DCEB-7644-2EEF-6451-CD5F03CCA33C}"/>
              </a:ext>
            </a:extLst>
          </p:cNvPr>
          <p:cNvPicPr>
            <a:picLocks noChangeAspect="1"/>
          </p:cNvPicPr>
          <p:nvPr/>
        </p:nvPicPr>
        <p:blipFill>
          <a:blip r:embed="rId2"/>
          <a:stretch>
            <a:fillRect/>
          </a:stretch>
        </p:blipFill>
        <p:spPr>
          <a:xfrm>
            <a:off x="836526" y="1112702"/>
            <a:ext cx="10518947" cy="1788221"/>
          </a:xfrm>
          <a:prstGeom prst="rect">
            <a:avLst/>
          </a:prstGeom>
        </p:spPr>
      </p:pic>
      <p:sp>
        <p:nvSpPr>
          <p:cNvPr id="5" name="TextBox 4">
            <a:extLst>
              <a:ext uri="{FF2B5EF4-FFF2-40B4-BE49-F238E27FC236}">
                <a16:creationId xmlns:a16="http://schemas.microsoft.com/office/drawing/2014/main" id="{FE40C268-E812-0DC8-9EED-26853D8D6C9B}"/>
              </a:ext>
            </a:extLst>
          </p:cNvPr>
          <p:cNvSpPr txBox="1"/>
          <p:nvPr/>
        </p:nvSpPr>
        <p:spPr>
          <a:xfrm>
            <a:off x="1266940" y="344143"/>
            <a:ext cx="6125378" cy="523220"/>
          </a:xfrm>
          <a:prstGeom prst="rect">
            <a:avLst/>
          </a:prstGeom>
          <a:noFill/>
        </p:spPr>
        <p:txBody>
          <a:bodyPr wrap="square">
            <a:spAutoFit/>
          </a:body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6. Results and Discussions</a:t>
            </a:r>
          </a:p>
        </p:txBody>
      </p:sp>
      <p:sp>
        <p:nvSpPr>
          <p:cNvPr id="7" name="TextBox 6">
            <a:extLst>
              <a:ext uri="{FF2B5EF4-FFF2-40B4-BE49-F238E27FC236}">
                <a16:creationId xmlns:a16="http://schemas.microsoft.com/office/drawing/2014/main" id="{4CE027D9-BA0E-E2FE-0032-950F7BE993A4}"/>
              </a:ext>
            </a:extLst>
          </p:cNvPr>
          <p:cNvSpPr txBox="1"/>
          <p:nvPr/>
        </p:nvSpPr>
        <p:spPr>
          <a:xfrm>
            <a:off x="727113" y="3146262"/>
            <a:ext cx="10763480" cy="2308324"/>
          </a:xfrm>
          <a:prstGeom prst="rect">
            <a:avLst/>
          </a:prstGeom>
          <a:noFill/>
        </p:spPr>
        <p:txBody>
          <a:bodyPr wrap="square">
            <a:spAutoFit/>
          </a:bodyPr>
          <a:lstStyle/>
          <a:p>
            <a:pPr marL="285750" indent="-285750">
              <a:buFont typeface="Arial" panose="020B0604020202020204" pitchFamily="34" charset="0"/>
              <a:buChar char="•"/>
            </a:pPr>
            <a:r>
              <a:rPr lang="en-IN" dirty="0"/>
              <a:t>PH-MSA achieves higher accuracy (95%) and precision (0.78) — very few false positives but misses many toxic comments due to low recall (0.49).</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TFRD achieves balanced precision and recall (both 0.64) with superior Macro-F1 (0.80) — better overall performance across both classes.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Under class imbalance, Macro-F1 is a more reliable metric than accuracy — TFRD is the stronger model by this measure.</a:t>
            </a:r>
          </a:p>
        </p:txBody>
      </p:sp>
    </p:spTree>
    <p:extLst>
      <p:ext uri="{BB962C8B-B14F-4D97-AF65-F5344CB8AC3E}">
        <p14:creationId xmlns:p14="http://schemas.microsoft.com/office/powerpoint/2010/main" val="1227239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06EB3-BA62-FE7C-EC92-A7B7D59BBD38}"/>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D3D0D1F5-F36B-A77B-63B1-76989FBA9F44}"/>
              </a:ext>
            </a:extLst>
          </p:cNvPr>
          <p:cNvSpPr txBox="1">
            <a:spLocks/>
          </p:cNvSpPr>
          <p:nvPr/>
        </p:nvSpPr>
        <p:spPr>
          <a:xfrm>
            <a:off x="1458012" y="232487"/>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endParaRPr lang="en-US" sz="2800" b="1" spc="-1" dirty="0">
              <a:latin typeface="Times New Roman" panose="02020603050405020304" pitchFamily="18" charset="0"/>
              <a:ea typeface="Calibri"/>
              <a:cs typeface="Times New Roman" panose="02020603050405020304" pitchFamily="18" charset="0"/>
            </a:endParaRPr>
          </a:p>
        </p:txBody>
      </p:sp>
      <p:pic>
        <p:nvPicPr>
          <p:cNvPr id="4" name="Picture 3">
            <a:extLst>
              <a:ext uri="{FF2B5EF4-FFF2-40B4-BE49-F238E27FC236}">
                <a16:creationId xmlns:a16="http://schemas.microsoft.com/office/drawing/2014/main" id="{B9ECB90E-E86F-845E-A769-EBE3D95CB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5616" y="1181014"/>
            <a:ext cx="6067213" cy="3556010"/>
          </a:xfrm>
          <a:prstGeom prst="rect">
            <a:avLst/>
          </a:prstGeom>
        </p:spPr>
      </p:pic>
      <p:sp>
        <p:nvSpPr>
          <p:cNvPr id="6" name="TextBox 5">
            <a:extLst>
              <a:ext uri="{FF2B5EF4-FFF2-40B4-BE49-F238E27FC236}">
                <a16:creationId xmlns:a16="http://schemas.microsoft.com/office/drawing/2014/main" id="{152BD13C-87AB-13FE-C8FE-26D94F12EB34}"/>
              </a:ext>
            </a:extLst>
          </p:cNvPr>
          <p:cNvSpPr txBox="1"/>
          <p:nvPr/>
        </p:nvSpPr>
        <p:spPr>
          <a:xfrm>
            <a:off x="6715272" y="1181014"/>
            <a:ext cx="5094810" cy="4524315"/>
          </a:xfrm>
          <a:prstGeom prst="rect">
            <a:avLst/>
          </a:prstGeom>
          <a:noFill/>
        </p:spPr>
        <p:txBody>
          <a:bodyPr wrap="square">
            <a:spAutoFit/>
          </a:bodyPr>
          <a:lstStyle/>
          <a:p>
            <a:pPr marL="285750" indent="-285750">
              <a:buFont typeface="Arial" panose="020B0604020202020204" pitchFamily="34" charset="0"/>
              <a:buChar char="•"/>
            </a:pPr>
            <a:r>
              <a:rPr lang="en-IN" dirty="0"/>
              <a:t>PH-MSA achieves lower Equalized Odds Gap (0.058 vs 0.093), fairer across identity groups despite having no explicit fairness loss.</a:t>
            </a:r>
          </a:p>
          <a:p>
            <a:endParaRPr lang="en-IN" dirty="0"/>
          </a:p>
          <a:p>
            <a:pPr marL="285750" indent="-285750">
              <a:buFont typeface="Arial" panose="020B0604020202020204" pitchFamily="34" charset="0"/>
              <a:buChar char="•"/>
            </a:pPr>
            <a:r>
              <a:rPr lang="en-IN" dirty="0"/>
              <a:t>TFRD's fairness regularization improved recall balance but caused higher FPR disparity — distillation loss and fairness loss competed during training.</a:t>
            </a:r>
          </a:p>
          <a:p>
            <a:endParaRPr lang="en-IN" dirty="0"/>
          </a:p>
          <a:p>
            <a:pPr marL="285750" indent="-285750">
              <a:buFont typeface="Arial" panose="020B0604020202020204" pitchFamily="34" charset="0"/>
              <a:buChar char="•"/>
            </a:pPr>
            <a:r>
              <a:rPr lang="en-IN" dirty="0"/>
              <a:t>FNR disparity exists in both models, unavoidable when detecting toxic comments referencing identity terms in the Jigsaw dataset.</a:t>
            </a:r>
          </a:p>
          <a:p>
            <a:endParaRPr lang="en-IN" dirty="0"/>
          </a:p>
          <a:p>
            <a:pPr marL="285750" indent="-285750">
              <a:buFont typeface="Arial" panose="020B0604020202020204" pitchFamily="34" charset="0"/>
              <a:buChar char="•"/>
            </a:pPr>
            <a:r>
              <a:rPr lang="en-IN" dirty="0"/>
              <a:t>Architectural hybridization and fairness regularization are complementary, neither alone fully resolves demographic bias.</a:t>
            </a:r>
          </a:p>
        </p:txBody>
      </p:sp>
    </p:spTree>
    <p:extLst>
      <p:ext uri="{BB962C8B-B14F-4D97-AF65-F5344CB8AC3E}">
        <p14:creationId xmlns:p14="http://schemas.microsoft.com/office/powerpoint/2010/main" val="2757380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716480-544D-A5E7-FD67-0FD683907E47}"/>
              </a:ext>
            </a:extLst>
          </p:cNvPr>
          <p:cNvSpPr txBox="1"/>
          <p:nvPr/>
        </p:nvSpPr>
        <p:spPr>
          <a:xfrm>
            <a:off x="1443209" y="322110"/>
            <a:ext cx="8505021" cy="523220"/>
          </a:xfrm>
          <a:prstGeom prst="rect">
            <a:avLst/>
          </a:prstGeom>
          <a:noFill/>
        </p:spPr>
        <p:txBody>
          <a:bodyPr wrap="square">
            <a:spAutoFit/>
          </a:bodyPr>
          <a:lstStyle/>
          <a:p>
            <a:r>
              <a:rPr lang="en-IN" sz="2800" b="1" dirty="0"/>
              <a:t>Model Behaviour Under Class Imbalance :PH-MSA</a:t>
            </a:r>
          </a:p>
        </p:txBody>
      </p:sp>
      <p:sp>
        <p:nvSpPr>
          <p:cNvPr id="5" name="TextBox 4">
            <a:extLst>
              <a:ext uri="{FF2B5EF4-FFF2-40B4-BE49-F238E27FC236}">
                <a16:creationId xmlns:a16="http://schemas.microsoft.com/office/drawing/2014/main" id="{F887258C-3BF4-4050-7EDC-43BF7C44C083}"/>
              </a:ext>
            </a:extLst>
          </p:cNvPr>
          <p:cNvSpPr txBox="1"/>
          <p:nvPr/>
        </p:nvSpPr>
        <p:spPr>
          <a:xfrm>
            <a:off x="694059" y="4716734"/>
            <a:ext cx="7579605" cy="923330"/>
          </a:xfrm>
          <a:prstGeom prst="rect">
            <a:avLst/>
          </a:prstGeom>
          <a:noFill/>
        </p:spPr>
        <p:txBody>
          <a:bodyPr wrap="square">
            <a:spAutoFit/>
          </a:bodyPr>
          <a:lstStyle/>
          <a:p>
            <a:pPr marL="285750" indent="-285750">
              <a:buFont typeface="Arial" panose="020B0604020202020204" pitchFamily="34" charset="0"/>
              <a:buChar char="•"/>
            </a:pPr>
            <a:r>
              <a:rPr lang="en-IN" dirty="0"/>
              <a:t>AUC = 0.9427 indicates strong but slightly lower separability than TFRD.</a:t>
            </a:r>
          </a:p>
          <a:p>
            <a:pPr marL="285750" indent="-285750">
              <a:buFont typeface="Arial" panose="020B0604020202020204" pitchFamily="34" charset="0"/>
              <a:buChar char="•"/>
            </a:pPr>
            <a:r>
              <a:rPr lang="en-IN" dirty="0"/>
              <a:t>PR-AUC = 0.6948, precision drops sharply after recall = 0.4. </a:t>
            </a:r>
          </a:p>
          <a:p>
            <a:pPr marL="285750" indent="-285750">
              <a:buFont typeface="Arial" panose="020B0604020202020204" pitchFamily="34" charset="0"/>
              <a:buChar char="•"/>
            </a:pPr>
            <a:r>
              <a:rPr lang="en-IN" dirty="0"/>
              <a:t>FN = 829 indicates the model misses a large portion of actual toxic content.</a:t>
            </a:r>
          </a:p>
        </p:txBody>
      </p:sp>
      <p:pic>
        <p:nvPicPr>
          <p:cNvPr id="7" name="Picture 6">
            <a:extLst>
              <a:ext uri="{FF2B5EF4-FFF2-40B4-BE49-F238E27FC236}">
                <a16:creationId xmlns:a16="http://schemas.microsoft.com/office/drawing/2014/main" id="{79B72133-9C12-DEC9-DF48-0B067B0B84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4739" y="980502"/>
            <a:ext cx="3604273" cy="2952519"/>
          </a:xfrm>
          <a:prstGeom prst="rect">
            <a:avLst/>
          </a:prstGeom>
        </p:spPr>
      </p:pic>
      <p:pic>
        <p:nvPicPr>
          <p:cNvPr id="9" name="Picture 8">
            <a:extLst>
              <a:ext uri="{FF2B5EF4-FFF2-40B4-BE49-F238E27FC236}">
                <a16:creationId xmlns:a16="http://schemas.microsoft.com/office/drawing/2014/main" id="{586FF383-0C89-39EC-E53B-988EB27BE638}"/>
              </a:ext>
            </a:extLst>
          </p:cNvPr>
          <p:cNvPicPr>
            <a:picLocks noChangeAspect="1"/>
          </p:cNvPicPr>
          <p:nvPr/>
        </p:nvPicPr>
        <p:blipFill>
          <a:blip r:embed="rId3"/>
          <a:stretch>
            <a:fillRect/>
          </a:stretch>
        </p:blipFill>
        <p:spPr>
          <a:xfrm>
            <a:off x="4089012" y="1014224"/>
            <a:ext cx="3734715" cy="2918797"/>
          </a:xfrm>
          <a:prstGeom prst="rect">
            <a:avLst/>
          </a:prstGeom>
        </p:spPr>
      </p:pic>
      <p:pic>
        <p:nvPicPr>
          <p:cNvPr id="10" name="Picture 9">
            <a:extLst>
              <a:ext uri="{FF2B5EF4-FFF2-40B4-BE49-F238E27FC236}">
                <a16:creationId xmlns:a16="http://schemas.microsoft.com/office/drawing/2014/main" id="{D54E65B7-F572-7EF9-FACC-DDEA8F9FAA62}"/>
              </a:ext>
            </a:extLst>
          </p:cNvPr>
          <p:cNvPicPr>
            <a:picLocks noChangeAspect="1"/>
          </p:cNvPicPr>
          <p:nvPr/>
        </p:nvPicPr>
        <p:blipFill>
          <a:blip r:embed="rId4"/>
          <a:stretch>
            <a:fillRect/>
          </a:stretch>
        </p:blipFill>
        <p:spPr>
          <a:xfrm>
            <a:off x="7823727" y="989628"/>
            <a:ext cx="3717380" cy="2952520"/>
          </a:xfrm>
          <a:prstGeom prst="rect">
            <a:avLst/>
          </a:prstGeom>
        </p:spPr>
      </p:pic>
    </p:spTree>
    <p:extLst>
      <p:ext uri="{BB962C8B-B14F-4D97-AF65-F5344CB8AC3E}">
        <p14:creationId xmlns:p14="http://schemas.microsoft.com/office/powerpoint/2010/main" val="2239670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91076E2-00BC-7B08-B182-C67768C3CCED}"/>
              </a:ext>
            </a:extLst>
          </p:cNvPr>
          <p:cNvSpPr txBox="1"/>
          <p:nvPr/>
        </p:nvSpPr>
        <p:spPr>
          <a:xfrm>
            <a:off x="1366091" y="289059"/>
            <a:ext cx="7260116" cy="523220"/>
          </a:xfrm>
          <a:prstGeom prst="rect">
            <a:avLst/>
          </a:prstGeom>
          <a:noFill/>
        </p:spPr>
        <p:txBody>
          <a:bodyPr wrap="square">
            <a:spAutoFit/>
          </a:bodyPr>
          <a:lstStyle/>
          <a:p>
            <a:r>
              <a:rPr lang="en-IN" sz="2800" b="1" dirty="0"/>
              <a:t>Model Behaviour Under Class Imbalance : TFRD</a:t>
            </a:r>
          </a:p>
        </p:txBody>
      </p:sp>
      <p:pic>
        <p:nvPicPr>
          <p:cNvPr id="9" name="Picture 8">
            <a:extLst>
              <a:ext uri="{FF2B5EF4-FFF2-40B4-BE49-F238E27FC236}">
                <a16:creationId xmlns:a16="http://schemas.microsoft.com/office/drawing/2014/main" id="{9DC0C79D-DEE3-FD6C-6A36-72F565406BD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7229" y="1027323"/>
            <a:ext cx="3543759" cy="2773377"/>
          </a:xfrm>
          <a:prstGeom prst="rect">
            <a:avLst/>
          </a:prstGeom>
        </p:spPr>
      </p:pic>
      <p:pic>
        <p:nvPicPr>
          <p:cNvPr id="13" name="Picture 12">
            <a:extLst>
              <a:ext uri="{FF2B5EF4-FFF2-40B4-BE49-F238E27FC236}">
                <a16:creationId xmlns:a16="http://schemas.microsoft.com/office/drawing/2014/main" id="{80F5C3C9-434C-7A64-FC8F-7F08B3FDE2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8695" y="1027323"/>
            <a:ext cx="3729214" cy="2939763"/>
          </a:xfrm>
          <a:prstGeom prst="rect">
            <a:avLst/>
          </a:prstGeom>
        </p:spPr>
      </p:pic>
      <p:pic>
        <p:nvPicPr>
          <p:cNvPr id="15" name="Picture 14">
            <a:extLst>
              <a:ext uri="{FF2B5EF4-FFF2-40B4-BE49-F238E27FC236}">
                <a16:creationId xmlns:a16="http://schemas.microsoft.com/office/drawing/2014/main" id="{6F4DCFCC-2EBE-86DF-5388-D70734A481D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15615" y="1027323"/>
            <a:ext cx="3698409" cy="2939762"/>
          </a:xfrm>
          <a:prstGeom prst="rect">
            <a:avLst/>
          </a:prstGeom>
        </p:spPr>
      </p:pic>
      <p:sp>
        <p:nvSpPr>
          <p:cNvPr id="17" name="TextBox 16">
            <a:extLst>
              <a:ext uri="{FF2B5EF4-FFF2-40B4-BE49-F238E27FC236}">
                <a16:creationId xmlns:a16="http://schemas.microsoft.com/office/drawing/2014/main" id="{595D2F7D-6E1F-092D-9C9F-3712BCB6A097}"/>
              </a:ext>
            </a:extLst>
          </p:cNvPr>
          <p:cNvSpPr txBox="1"/>
          <p:nvPr/>
        </p:nvSpPr>
        <p:spPr>
          <a:xfrm>
            <a:off x="696815" y="4313199"/>
            <a:ext cx="10432974" cy="923330"/>
          </a:xfrm>
          <a:prstGeom prst="rect">
            <a:avLst/>
          </a:prstGeom>
          <a:noFill/>
        </p:spPr>
        <p:txBody>
          <a:bodyPr wrap="square">
            <a:spAutoFit/>
          </a:bodyPr>
          <a:lstStyle/>
          <a:p>
            <a:pPr marL="285750" indent="-285750">
              <a:buFont typeface="Arial" panose="020B0604020202020204" pitchFamily="34" charset="0"/>
              <a:buChar char="•"/>
            </a:pPr>
            <a:r>
              <a:rPr lang="en-IN" dirty="0"/>
              <a:t>AUC = 0.9513, ROC curve hugs top-left corner indicating strong separability. </a:t>
            </a:r>
          </a:p>
          <a:p>
            <a:pPr marL="285750" indent="-285750">
              <a:buFont typeface="Arial" panose="020B0604020202020204" pitchFamily="34" charset="0"/>
              <a:buChar char="•"/>
            </a:pPr>
            <a:r>
              <a:rPr lang="en-IN" dirty="0"/>
              <a:t>PR-AUC = 0.7345 shows that the proposed TFRD model maintains high precision across recall range.</a:t>
            </a:r>
          </a:p>
          <a:p>
            <a:pPr marL="285750" indent="-285750">
              <a:buFont typeface="Arial" panose="020B0604020202020204" pitchFamily="34" charset="0"/>
              <a:buChar char="•"/>
            </a:pPr>
            <a:r>
              <a:rPr lang="en-IN" dirty="0"/>
              <a:t>FN = 142 indicates that the model misses fewer toxic comments.</a:t>
            </a:r>
          </a:p>
        </p:txBody>
      </p:sp>
    </p:spTree>
    <p:extLst>
      <p:ext uri="{BB962C8B-B14F-4D97-AF65-F5344CB8AC3E}">
        <p14:creationId xmlns:p14="http://schemas.microsoft.com/office/powerpoint/2010/main" val="241497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BD85E-DE7A-A34E-EAA1-CF1BBBAC7293}"/>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C8141872-89E5-1740-614B-990088458213}"/>
              </a:ext>
            </a:extLst>
          </p:cNvPr>
          <p:cNvSpPr txBox="1">
            <a:spLocks/>
          </p:cNvSpPr>
          <p:nvPr/>
        </p:nvSpPr>
        <p:spPr>
          <a:xfrm>
            <a:off x="1318528" y="201490"/>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a:latin typeface="Times New Roman" panose="02020603050405020304" pitchFamily="18" charset="0"/>
                <a:ea typeface="Calibri"/>
                <a:cs typeface="Times New Roman" panose="02020603050405020304" pitchFamily="18" charset="0"/>
              </a:rPr>
              <a:t>7. Conclusions</a:t>
            </a:r>
            <a:endParaRPr lang="en-US" sz="2800" b="1" spc="-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D7011B7-90FB-A8D9-C23E-C10886BADA28}"/>
              </a:ext>
            </a:extLst>
          </p:cNvPr>
          <p:cNvSpPr txBox="1"/>
          <p:nvPr/>
        </p:nvSpPr>
        <p:spPr>
          <a:xfrm>
            <a:off x="694062" y="1120676"/>
            <a:ext cx="10807548" cy="3139321"/>
          </a:xfrm>
          <a:prstGeom prst="rect">
            <a:avLst/>
          </a:prstGeom>
          <a:noFill/>
        </p:spPr>
        <p:txBody>
          <a:bodyPr wrap="square">
            <a:spAutoFit/>
          </a:bodyPr>
          <a:lstStyle/>
          <a:p>
            <a:r>
              <a:rPr lang="en-IN" dirty="0"/>
              <a:t>PH-MSA achieves higher accuracy (95%) and precision (0.78), making it suitable for scenarios where minimizing false positives is critical.</a:t>
            </a:r>
          </a:p>
          <a:p>
            <a:endParaRPr lang="en-IN" dirty="0"/>
          </a:p>
          <a:p>
            <a:r>
              <a:rPr lang="en-IN" dirty="0"/>
              <a:t>However, PH-MSA's low recall (0.49) limits its ability to detect all toxic content which is a significant drawback in safety-critical deployments.</a:t>
            </a:r>
          </a:p>
          <a:p>
            <a:endParaRPr lang="en-IN" dirty="0"/>
          </a:p>
          <a:p>
            <a:r>
              <a:rPr lang="en-IN" dirty="0"/>
              <a:t>TFRD achieves superior Macro-F1 (0.80) with balanced precision and recall, demonstrating that fairness-conscious training is an effective approach for mitigating identity bias.</a:t>
            </a:r>
          </a:p>
          <a:p>
            <a:endParaRPr lang="en-IN" dirty="0"/>
          </a:p>
          <a:p>
            <a:r>
              <a:rPr lang="en-IN" dirty="0"/>
              <a:t>Fairness-regularized distillation proves to be a strong alternative to architectural complexity alone for building equitable toxicity detection systems.</a:t>
            </a:r>
          </a:p>
        </p:txBody>
      </p:sp>
    </p:spTree>
    <p:extLst>
      <p:ext uri="{BB962C8B-B14F-4D97-AF65-F5344CB8AC3E}">
        <p14:creationId xmlns:p14="http://schemas.microsoft.com/office/powerpoint/2010/main" val="447602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C7B0B-459E-B266-204F-86C042A7BC59}"/>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D465F69D-6C2F-5AC3-E024-3CED2B257DC3}"/>
              </a:ext>
            </a:extLst>
          </p:cNvPr>
          <p:cNvSpPr txBox="1">
            <a:spLocks/>
          </p:cNvSpPr>
          <p:nvPr/>
        </p:nvSpPr>
        <p:spPr>
          <a:xfrm>
            <a:off x="1566500" y="232487"/>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a:latin typeface="Times New Roman" panose="02020603050405020304" pitchFamily="18" charset="0"/>
                <a:ea typeface="Calibri"/>
                <a:cs typeface="Times New Roman" panose="02020603050405020304" pitchFamily="18" charset="0"/>
              </a:rPr>
              <a:t>8. Future Scope</a:t>
            </a:r>
            <a:endParaRPr lang="en-US" sz="2800" b="1" spc="-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5107C2C-113C-38DE-30C3-400973518F02}"/>
              </a:ext>
            </a:extLst>
          </p:cNvPr>
          <p:cNvSpPr txBox="1"/>
          <p:nvPr/>
        </p:nvSpPr>
        <p:spPr>
          <a:xfrm>
            <a:off x="771504" y="1340371"/>
            <a:ext cx="10648991" cy="2308324"/>
          </a:xfrm>
          <a:prstGeom prst="rect">
            <a:avLst/>
          </a:prstGeom>
          <a:noFill/>
        </p:spPr>
        <p:txBody>
          <a:bodyPr wrap="square">
            <a:spAutoFit/>
          </a:bodyPr>
          <a:lstStyle/>
          <a:p>
            <a:r>
              <a:rPr lang="en-IN" dirty="0"/>
              <a:t>Evaluate both models on additional benchmark datasets such as Civil Comments and </a:t>
            </a:r>
            <a:r>
              <a:rPr lang="en-IN" dirty="0" err="1"/>
              <a:t>HatEval</a:t>
            </a:r>
            <a:r>
              <a:rPr lang="en-IN" dirty="0"/>
              <a:t> to assess generalizability across domains.</a:t>
            </a:r>
          </a:p>
          <a:p>
            <a:endParaRPr lang="en-IN" dirty="0"/>
          </a:p>
          <a:p>
            <a:r>
              <a:rPr lang="en-IN" dirty="0"/>
              <a:t>Extend models to account for overlapping and intersectional identity categories as targets of hate speech often belong to multiple marginalized groups simultaneously.</a:t>
            </a:r>
          </a:p>
          <a:p>
            <a:endParaRPr lang="en-IN" dirty="0"/>
          </a:p>
          <a:p>
            <a:r>
              <a:rPr lang="en-IN" dirty="0"/>
              <a:t>Incorporate Explainable AI (XAI) techniques to improve interpretability of model predictions which is essential for transparent and trustworthy deployment in real-world moderation systems.</a:t>
            </a:r>
          </a:p>
        </p:txBody>
      </p:sp>
    </p:spTree>
    <p:extLst>
      <p:ext uri="{BB962C8B-B14F-4D97-AF65-F5344CB8AC3E}">
        <p14:creationId xmlns:p14="http://schemas.microsoft.com/office/powerpoint/2010/main" val="682822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3FBB-BF29-90F2-F167-E6B4C7805997}"/>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69D65707-3D7D-F193-93CB-10338D1F41AE}"/>
              </a:ext>
            </a:extLst>
          </p:cNvPr>
          <p:cNvSpPr txBox="1">
            <a:spLocks/>
          </p:cNvSpPr>
          <p:nvPr/>
        </p:nvSpPr>
        <p:spPr>
          <a:xfrm>
            <a:off x="1194541" y="263483"/>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9. References</a:t>
            </a:r>
            <a:endParaRPr lang="en-US" sz="2800" b="1" spc="-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6BCB95B3-809B-23C3-868C-78FF3CC14AA2}"/>
              </a:ext>
            </a:extLst>
          </p:cNvPr>
          <p:cNvSpPr txBox="1"/>
          <p:nvPr/>
        </p:nvSpPr>
        <p:spPr>
          <a:xfrm>
            <a:off x="626125" y="937043"/>
            <a:ext cx="10939749" cy="4801314"/>
          </a:xfrm>
          <a:prstGeom prst="rect">
            <a:avLst/>
          </a:prstGeom>
          <a:noFill/>
        </p:spPr>
        <p:txBody>
          <a:bodyPr wrap="square">
            <a:spAutoFit/>
          </a:bodyPr>
          <a:lstStyle/>
          <a:p>
            <a:r>
              <a:rPr lang="en-IN" dirty="0"/>
              <a:t>[1] S. Khapre, M. A. Mersha, H. Shakil, J. Baruah, and J. Kalita, “Toxicity in online platforms and AI systems: A survey of needs, challenges, mitigations, and future directions,” Expert Systems with Applications,</a:t>
            </a:r>
          </a:p>
          <a:p>
            <a:r>
              <a:rPr lang="en-IN" dirty="0"/>
              <a:t>vol. 299, Part A, p. 129832, 2026.</a:t>
            </a:r>
          </a:p>
          <a:p>
            <a:r>
              <a:rPr lang="en-IN" dirty="0"/>
              <a:t>[2] A. Abbasi, A. R. Javed, F. Iqbal, N. </a:t>
            </a:r>
            <a:r>
              <a:rPr lang="en-IN" dirty="0" err="1"/>
              <a:t>Kryvinska</a:t>
            </a:r>
            <a:r>
              <a:rPr lang="en-IN" dirty="0"/>
              <a:t>, and Z. Jalil, “Deep learning for religious and continent-based toxic content detection and classification,” Scientific Reports, vol. 12, no. 1, p. 17478, 2022.</a:t>
            </a:r>
          </a:p>
          <a:p>
            <a:r>
              <a:rPr lang="en-IN" dirty="0"/>
              <a:t>[3] I. Garrido-Munoz, A. Montejo-R ˜ </a:t>
            </a:r>
            <a:r>
              <a:rPr lang="en-IN" dirty="0" err="1"/>
              <a:t>aez</a:t>
            </a:r>
            <a:r>
              <a:rPr lang="en-IN" dirty="0"/>
              <a:t>, F. Mart ´ ´</a:t>
            </a:r>
            <a:r>
              <a:rPr lang="en-IN" dirty="0" err="1"/>
              <a:t>ınez</a:t>
            </a:r>
            <a:r>
              <a:rPr lang="en-IN" dirty="0"/>
              <a:t>-Santiago, and L. A. Urena-L ˜ </a:t>
            </a:r>
            <a:r>
              <a:rPr lang="en-IN" dirty="0" err="1"/>
              <a:t>opez</a:t>
            </a:r>
            <a:r>
              <a:rPr lang="en-IN" dirty="0"/>
              <a:t>, “A survey on bias in deep NLP,” ´ Applied Sciences, vol. 11, no. 7, p. 3184, 2021.</a:t>
            </a:r>
          </a:p>
          <a:p>
            <a:r>
              <a:rPr lang="en-IN" dirty="0"/>
              <a:t>[4] T. Garg, S. Masud, T. Suresh, and T. Chakraborty, “Handling bias in toxic speech detection: A survey,” ACM Computing Surveys, vol. 55, no. 13s, p. 264, 2023.</a:t>
            </a:r>
          </a:p>
          <a:p>
            <a:r>
              <a:rPr lang="en-IN" dirty="0"/>
              <a:t>[5] A. C. Mazari, N. </a:t>
            </a:r>
            <a:r>
              <a:rPr lang="en-IN" dirty="0" err="1"/>
              <a:t>Boudoukhani</a:t>
            </a:r>
            <a:r>
              <a:rPr lang="en-IN" dirty="0"/>
              <a:t>, and A. Djeffal, “BERT-based ensemble learning for multi aspect hate speech detection,” Cluster Computing, vol. 27, pp. 325–339, 2024.</a:t>
            </a:r>
          </a:p>
          <a:p>
            <a:r>
              <a:rPr lang="en-IN" dirty="0"/>
              <a:t>[6] Y. Wang, L. Feng, A. Liu, et al., “Dual </a:t>
            </a:r>
            <a:r>
              <a:rPr lang="en-IN" dirty="0" err="1"/>
              <a:t>BiGRU</a:t>
            </a:r>
            <a:r>
              <a:rPr lang="en-IN" dirty="0"/>
              <a:t>-CNN-based sentiment classification method combining global and local attention,” Journal of Supercomputing, vol. 80, pp. 2799–2837, 2024.</a:t>
            </a:r>
          </a:p>
          <a:p>
            <a:r>
              <a:rPr lang="en-IN" dirty="0"/>
              <a:t>[7] S. Soni, S. S. Chouhan, and S. S. Rathore, “</a:t>
            </a:r>
            <a:r>
              <a:rPr lang="en-IN" dirty="0" err="1"/>
              <a:t>TextConvoNet</a:t>
            </a:r>
            <a:r>
              <a:rPr lang="en-IN" dirty="0"/>
              <a:t>: A convolutional neural network based architecture for text classification,” Applied Intelligence, vol. 53, pp. 14249–14268, 2023.</a:t>
            </a:r>
          </a:p>
          <a:p>
            <a:r>
              <a:rPr lang="en-IN" dirty="0"/>
              <a:t>[8] K. B. </a:t>
            </a:r>
            <a:r>
              <a:rPr lang="en-IN" dirty="0" err="1"/>
              <a:t>Nelatoori</a:t>
            </a:r>
            <a:r>
              <a:rPr lang="en-IN" dirty="0"/>
              <a:t> and H. B. </a:t>
            </a:r>
            <a:r>
              <a:rPr lang="en-IN" dirty="0" err="1"/>
              <a:t>Kommanti</a:t>
            </a:r>
            <a:r>
              <a:rPr lang="en-IN" dirty="0"/>
              <a:t>, “Multi-task learning for toxic comment classification and rationale extraction,” Journal of Intelligent Information Systems, vol. 60, pp. 495–519, 2023.</a:t>
            </a:r>
          </a:p>
        </p:txBody>
      </p:sp>
    </p:spTree>
    <p:extLst>
      <p:ext uri="{BB962C8B-B14F-4D97-AF65-F5344CB8AC3E}">
        <p14:creationId xmlns:p14="http://schemas.microsoft.com/office/powerpoint/2010/main" val="2931534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47526-17F5-8366-9771-F8A5EFFB29CE}"/>
            </a:ext>
          </a:extLst>
        </p:cNvPr>
        <p:cNvGrpSpPr/>
        <p:nvPr/>
      </p:nvGrpSpPr>
      <p:grpSpPr>
        <a:xfrm>
          <a:off x="0" y="0"/>
          <a:ext cx="0" cy="0"/>
          <a:chOff x="0" y="0"/>
          <a:chExt cx="0" cy="0"/>
        </a:xfrm>
      </p:grpSpPr>
      <p:sp>
        <p:nvSpPr>
          <p:cNvPr id="2" name="PlaceHolder 1">
            <a:extLst>
              <a:ext uri="{FF2B5EF4-FFF2-40B4-BE49-F238E27FC236}">
                <a16:creationId xmlns:a16="http://schemas.microsoft.com/office/drawing/2014/main" id="{EC581144-881C-9C84-E6B6-9FF469A00DB6}"/>
              </a:ext>
            </a:extLst>
          </p:cNvPr>
          <p:cNvSpPr txBox="1">
            <a:spLocks/>
          </p:cNvSpPr>
          <p:nvPr/>
        </p:nvSpPr>
        <p:spPr>
          <a:xfrm>
            <a:off x="1194541" y="263483"/>
            <a:ext cx="10514520" cy="673560"/>
          </a:xfrm>
          <a:prstGeom prst="rect">
            <a:avLst/>
          </a:prstGeom>
          <a:noFill/>
          <a:ln w="0">
            <a:noFill/>
          </a:ln>
        </p:spPr>
        <p:txBody>
          <a:bodyPr lIns="91440" tIns="45720" rIns="91440" bIns="4572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tab pos="0" algn="l"/>
              </a:tabLst>
            </a:pPr>
            <a:r>
              <a:rPr lang="en-US" sz="2800" b="1" spc="-1" dirty="0">
                <a:latin typeface="Times New Roman" panose="02020603050405020304" pitchFamily="18" charset="0"/>
                <a:ea typeface="Calibri"/>
                <a:cs typeface="Times New Roman" panose="02020603050405020304" pitchFamily="18" charset="0"/>
              </a:rPr>
              <a:t>9. References</a:t>
            </a:r>
            <a:endParaRPr lang="en-US" sz="2800" b="1" spc="-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717EC04-55CF-E6CD-2CD1-A4D37ABF1C3F}"/>
              </a:ext>
            </a:extLst>
          </p:cNvPr>
          <p:cNvSpPr txBox="1"/>
          <p:nvPr/>
        </p:nvSpPr>
        <p:spPr>
          <a:xfrm>
            <a:off x="692227" y="1083928"/>
            <a:ext cx="10897518" cy="4524315"/>
          </a:xfrm>
          <a:prstGeom prst="rect">
            <a:avLst/>
          </a:prstGeom>
          <a:noFill/>
        </p:spPr>
        <p:txBody>
          <a:bodyPr wrap="square">
            <a:spAutoFit/>
          </a:bodyPr>
          <a:lstStyle/>
          <a:p>
            <a:r>
              <a:rPr lang="en-IN" dirty="0"/>
              <a:t>[9] H. </a:t>
            </a:r>
            <a:r>
              <a:rPr lang="en-IN" dirty="0" err="1"/>
              <a:t>Almerekhi</a:t>
            </a:r>
            <a:r>
              <a:rPr lang="en-IN" dirty="0"/>
              <a:t>, H. Kwak, J. Salminen, and B. J. Jansen, “PROVOKE: Toxicity trigger detection in conversations from the top 100 subreddits,” Data and Information Management, vol. 6, no. 4, p. 100019, 2022.</a:t>
            </a:r>
          </a:p>
          <a:p>
            <a:r>
              <a:rPr lang="en-IN" dirty="0"/>
              <a:t>[10] J. Lu et al., “Hate speech detection via dual contrastive learning,” IEEE/ACM Transactions on Audio, Speech, and Language Processing, vol. 31, pp. 2787–2795, 2023.</a:t>
            </a:r>
          </a:p>
          <a:p>
            <a:r>
              <a:rPr lang="en-IN" dirty="0"/>
              <a:t>[11] V. S. Nivedita and A. B. Banu, “A hybrid contrastive graph neural network framework for fake news and hate speech detection using content and user interaction signals,” Scientific Reports, vol. 16, no. 1,</a:t>
            </a:r>
          </a:p>
          <a:p>
            <a:r>
              <a:rPr lang="en-IN" dirty="0"/>
              <a:t>p. 669, 2025.</a:t>
            </a:r>
          </a:p>
          <a:p>
            <a:r>
              <a:rPr lang="en-IN" dirty="0"/>
              <a:t>[12] F. K. </a:t>
            </a:r>
            <a:r>
              <a:rPr lang="en-IN" dirty="0" err="1"/>
              <a:t>Saddozai</a:t>
            </a:r>
            <a:r>
              <a:rPr lang="en-IN" dirty="0"/>
              <a:t>, S. K. Badri, D. </a:t>
            </a:r>
            <a:r>
              <a:rPr lang="en-IN" dirty="0" err="1"/>
              <a:t>Alghazzawi</a:t>
            </a:r>
            <a:r>
              <a:rPr lang="en-IN" dirty="0"/>
              <a:t>, A. Khattak, and M. Z. Asghar, “Multimodal hate speech detection: A novel deep learning framework for multilingual text and images,” </a:t>
            </a:r>
            <a:r>
              <a:rPr lang="en-IN" dirty="0" err="1"/>
              <a:t>PeerJ</a:t>
            </a:r>
            <a:r>
              <a:rPr lang="en-IN" dirty="0"/>
              <a:t> Computer Science, vol. 11, p. e2801, 2025.</a:t>
            </a:r>
          </a:p>
          <a:p>
            <a:r>
              <a:rPr lang="en-IN" dirty="0"/>
              <a:t>[13] M. H. Hashir, Memoona, and S. W. Kim, “TARGE: Large language model-powered explainable hate speech detection,” </a:t>
            </a:r>
            <a:r>
              <a:rPr lang="en-IN" dirty="0" err="1"/>
              <a:t>PeerJ</a:t>
            </a:r>
            <a:r>
              <a:rPr lang="en-IN" dirty="0"/>
              <a:t> Computer Science, vol. 11, p. e2911, 2025.</a:t>
            </a:r>
          </a:p>
          <a:p>
            <a:r>
              <a:rPr lang="en-IN" dirty="0"/>
              <a:t>[14] M. Shah and N. Sureja, “A comprehensive review of bias in deep learning models: Methods, impacts, and future directions,” Archives of Computational Methods in Engineering, vol. 32, pp. 255–267, 2025.</a:t>
            </a:r>
          </a:p>
          <a:p>
            <a:r>
              <a:rPr lang="en-IN" dirty="0"/>
              <a:t>[15] J. Jotheeswaran, V. Geetha, M. Iyyappan, and K. G. Srinivasa, “Promoting constructive online debates through toxic comment classifier,” in Proc. International Conference on IT Innovation and Knowledge Discovery (ITIKD), Manama, Bahrain, 2025, pp. 1–6.</a:t>
            </a:r>
          </a:p>
        </p:txBody>
      </p:sp>
    </p:spTree>
    <p:extLst>
      <p:ext uri="{BB962C8B-B14F-4D97-AF65-F5344CB8AC3E}">
        <p14:creationId xmlns:p14="http://schemas.microsoft.com/office/powerpoint/2010/main" val="29004641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1624112"/>
            <a:ext cx="8864599" cy="3582888"/>
          </a:xfrm>
          <a:prstGeom prst="rect">
            <a:avLst/>
          </a:prstGeom>
          <a:solidFill>
            <a:schemeClr val="bg1">
              <a:lumMod val="95000"/>
            </a:schemeClr>
          </a:solidFill>
          <a:ln>
            <a:noFill/>
          </a:ln>
        </p:spPr>
        <p:txBody>
          <a:bodyPr vert="horz" wrap="square" lIns="91440" tIns="45720" rIns="91440" bIns="45720" numCol="1" anchor="t" anchorCtr="0" compatLnSpc="1">
            <a:prstTxWarp prst="textNoShape">
              <a:avLst/>
            </a:prstTxWarp>
          </a:bodyPr>
          <a:lstStyle/>
          <a:p>
            <a:endParaRPr lang="en-US" b="1" dirty="0">
              <a:solidFill>
                <a:schemeClr val="tx1"/>
              </a:solidFill>
              <a:latin typeface="Museo 300" pitchFamily="50" charset="0"/>
            </a:endParaRPr>
          </a:p>
        </p:txBody>
      </p:sp>
      <p:sp>
        <p:nvSpPr>
          <p:cNvPr id="10" name="Freeform 9"/>
          <p:cNvSpPr/>
          <p:nvPr/>
        </p:nvSpPr>
        <p:spPr>
          <a:xfrm>
            <a:off x="4220335" y="1306973"/>
            <a:ext cx="7971665" cy="4243290"/>
          </a:xfrm>
          <a:custGeom>
            <a:avLst/>
            <a:gdLst>
              <a:gd name="connsiteX0" fmla="*/ 0 w 6731003"/>
              <a:gd name="connsiteY0" fmla="*/ 0 h 3582890"/>
              <a:gd name="connsiteX1" fmla="*/ 5867402 w 6731003"/>
              <a:gd name="connsiteY1" fmla="*/ 0 h 3582890"/>
              <a:gd name="connsiteX2" fmla="*/ 5867402 w 6731003"/>
              <a:gd name="connsiteY2" fmla="*/ 2 h 3582890"/>
              <a:gd name="connsiteX3" fmla="*/ 6731003 w 6731003"/>
              <a:gd name="connsiteY3" fmla="*/ 2 h 3582890"/>
              <a:gd name="connsiteX4" fmla="*/ 6731003 w 6731003"/>
              <a:gd name="connsiteY4" fmla="*/ 3582890 h 3582890"/>
              <a:gd name="connsiteX5" fmla="*/ 5537203 w 6731003"/>
              <a:gd name="connsiteY5" fmla="*/ 3582890 h 3582890"/>
              <a:gd name="connsiteX6" fmla="*/ 5537203 w 6731003"/>
              <a:gd name="connsiteY6" fmla="*/ 3580111 h 3582890"/>
              <a:gd name="connsiteX7" fmla="*/ 2709944 w 6731003"/>
              <a:gd name="connsiteY7" fmla="*/ 3580111 h 3582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31003" h="3582890">
                <a:moveTo>
                  <a:pt x="0" y="0"/>
                </a:moveTo>
                <a:lnTo>
                  <a:pt x="5867402" y="0"/>
                </a:lnTo>
                <a:lnTo>
                  <a:pt x="5867402" y="2"/>
                </a:lnTo>
                <a:lnTo>
                  <a:pt x="6731003" y="2"/>
                </a:lnTo>
                <a:lnTo>
                  <a:pt x="6731003" y="3582890"/>
                </a:lnTo>
                <a:lnTo>
                  <a:pt x="5537203" y="3582890"/>
                </a:lnTo>
                <a:lnTo>
                  <a:pt x="5537203" y="3580111"/>
                </a:lnTo>
                <a:lnTo>
                  <a:pt x="2709944" y="3580111"/>
                </a:lnTo>
                <a:close/>
              </a:path>
            </a:pathLst>
          </a:custGeom>
          <a:solidFill>
            <a:srgbClr val="F18B17"/>
          </a:solidFill>
          <a:ln>
            <a:noFill/>
          </a:ln>
        </p:spPr>
        <p:txBody>
          <a:bodyPr vert="horz" wrap="square" lIns="91440" tIns="45720" rIns="91440" bIns="45720" numCol="1" anchor="t" anchorCtr="0" compatLnSpc="1">
            <a:prstTxWarp prst="textNoShape">
              <a:avLst/>
            </a:prstTxWarp>
            <a:noAutofit/>
          </a:bodyPr>
          <a:lstStyle/>
          <a:p>
            <a:endParaRPr lang="en-US" b="1" dirty="0">
              <a:solidFill>
                <a:schemeClr val="tx1"/>
              </a:solidFill>
              <a:latin typeface="Museo 300" pitchFamily="50" charset="0"/>
            </a:endParaRPr>
          </a:p>
        </p:txBody>
      </p:sp>
      <p:sp>
        <p:nvSpPr>
          <p:cNvPr id="11" name="TextBox 10"/>
          <p:cNvSpPr txBox="1"/>
          <p:nvPr/>
        </p:nvSpPr>
        <p:spPr>
          <a:xfrm>
            <a:off x="6413512" y="2712201"/>
            <a:ext cx="5778488" cy="1200329"/>
          </a:xfrm>
          <a:prstGeom prst="rect">
            <a:avLst/>
          </a:prstGeom>
          <a:noFill/>
        </p:spPr>
        <p:txBody>
          <a:bodyPr wrap="square" rtlCol="0">
            <a:spAutoFit/>
          </a:bodyPr>
          <a:lstStyle/>
          <a:p>
            <a:pPr>
              <a:spcAft>
                <a:spcPts val="600"/>
              </a:spcAft>
            </a:pPr>
            <a:r>
              <a:rPr lang="en-US" sz="7200" b="1" dirty="0">
                <a:solidFill>
                  <a:schemeClr val="bg1"/>
                </a:solidFill>
                <a:latin typeface="Museo 700" panose="02000000000000000000" pitchFamily="50" charset="0"/>
              </a:rPr>
              <a:t>Thank You</a:t>
            </a:r>
          </a:p>
        </p:txBody>
      </p:sp>
      <p:sp>
        <p:nvSpPr>
          <p:cNvPr id="12" name="TextBox 11"/>
          <p:cNvSpPr txBox="1"/>
          <p:nvPr/>
        </p:nvSpPr>
        <p:spPr>
          <a:xfrm>
            <a:off x="560611" y="2655802"/>
            <a:ext cx="3949396" cy="1677382"/>
          </a:xfrm>
          <a:prstGeom prst="rect">
            <a:avLst/>
          </a:prstGeom>
          <a:noFill/>
        </p:spPr>
        <p:txBody>
          <a:bodyPr wrap="square" rtlCol="0">
            <a:spAutoFit/>
          </a:bodyPr>
          <a:lstStyle/>
          <a:p>
            <a:pPr fontAlgn="base">
              <a:spcAft>
                <a:spcPts val="600"/>
              </a:spcAft>
            </a:pPr>
            <a:r>
              <a:rPr lang="en-IN" sz="2200" b="1" dirty="0">
                <a:solidFill>
                  <a:schemeClr val="tx1">
                    <a:lumMod val="65000"/>
                    <a:lumOff val="35000"/>
                  </a:schemeClr>
                </a:solidFill>
                <a:latin typeface="Times New Roman" panose="02020603050405020304" pitchFamily="18" charset="0"/>
                <a:cs typeface="Times New Roman" panose="02020603050405020304" pitchFamily="18" charset="0"/>
              </a:rPr>
              <a:t>MVJ College of Engineering</a:t>
            </a:r>
          </a:p>
          <a:p>
            <a:pPr fontAlgn="base">
              <a:spcAft>
                <a:spcPts val="600"/>
              </a:spcAft>
            </a:pPr>
            <a:r>
              <a:rPr lang="en-IN" sz="2200" dirty="0">
                <a:solidFill>
                  <a:schemeClr val="tx1">
                    <a:lumMod val="65000"/>
                    <a:lumOff val="35000"/>
                  </a:schemeClr>
                </a:solidFill>
                <a:latin typeface="Times New Roman" panose="02020603050405020304" pitchFamily="18" charset="0"/>
                <a:cs typeface="Times New Roman" panose="02020603050405020304" pitchFamily="18" charset="0"/>
              </a:rPr>
              <a:t>Near ITPB, Whitefield</a:t>
            </a:r>
          </a:p>
          <a:p>
            <a:pPr fontAlgn="base">
              <a:spcAft>
                <a:spcPts val="600"/>
              </a:spcAft>
            </a:pPr>
            <a:r>
              <a:rPr lang="en-IN" sz="2200" dirty="0">
                <a:solidFill>
                  <a:schemeClr val="tx1">
                    <a:lumMod val="65000"/>
                    <a:lumOff val="35000"/>
                  </a:schemeClr>
                </a:solidFill>
                <a:latin typeface="Times New Roman" panose="02020603050405020304" pitchFamily="18" charset="0"/>
                <a:cs typeface="Times New Roman" panose="02020603050405020304" pitchFamily="18" charset="0"/>
              </a:rPr>
              <a:t>Bangalore-560 067</a:t>
            </a:r>
          </a:p>
          <a:p>
            <a:pPr fontAlgn="base">
              <a:spcAft>
                <a:spcPts val="600"/>
              </a:spcAft>
            </a:pPr>
            <a:r>
              <a:rPr lang="en-IN" sz="2200" dirty="0">
                <a:solidFill>
                  <a:schemeClr val="tx1">
                    <a:lumMod val="65000"/>
                    <a:lumOff val="35000"/>
                  </a:schemeClr>
                </a:solidFill>
                <a:latin typeface="Times New Roman" panose="02020603050405020304" pitchFamily="18" charset="0"/>
                <a:cs typeface="Times New Roman" panose="02020603050405020304" pitchFamily="18" charset="0"/>
              </a:rPr>
              <a:t>Mob: 6381345775</a:t>
            </a:r>
          </a:p>
        </p:txBody>
      </p:sp>
      <p:sp>
        <p:nvSpPr>
          <p:cNvPr id="13" name="TextBox 12"/>
          <p:cNvSpPr txBox="1"/>
          <p:nvPr/>
        </p:nvSpPr>
        <p:spPr>
          <a:xfrm>
            <a:off x="57090" y="6574111"/>
            <a:ext cx="12192000" cy="261610"/>
          </a:xfrm>
          <a:prstGeom prst="rect">
            <a:avLst/>
          </a:prstGeom>
          <a:noFill/>
        </p:spPr>
        <p:txBody>
          <a:bodyPr wrap="square" rtlCol="0">
            <a:spAutoFit/>
          </a:bodyPr>
          <a:lstStyle/>
          <a:p>
            <a:r>
              <a:rPr lang="en-IN" sz="1100" b="1" dirty="0">
                <a:solidFill>
                  <a:srgbClr val="C00000"/>
                </a:solidFill>
                <a:latin typeface="Museo 300" panose="02000000000000000000" pitchFamily="50" charset="0"/>
              </a:rPr>
              <a:t>An Autonomous Institute</a:t>
            </a:r>
            <a:r>
              <a:rPr lang="en-IN" sz="1100" b="1" baseline="0"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Affiliated to VTU, </a:t>
            </a:r>
            <a:r>
              <a:rPr lang="en-IN" sz="1100" b="1" dirty="0" err="1">
                <a:solidFill>
                  <a:srgbClr val="C00000"/>
                </a:solidFill>
                <a:latin typeface="Museo 300" panose="02000000000000000000" pitchFamily="50" charset="0"/>
              </a:rPr>
              <a:t>Belagavi</a:t>
            </a:r>
            <a:r>
              <a:rPr lang="en-US" sz="1100" b="1"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Approved By AICTE, New Delhi, Recognized by UGC with 2(f) &amp; 12(B) status</a:t>
            </a:r>
            <a:r>
              <a:rPr lang="en-US" sz="1100" b="1" dirty="0">
                <a:solidFill>
                  <a:srgbClr val="C00000"/>
                </a:solidFill>
                <a:latin typeface="Museo 300" panose="02000000000000000000" pitchFamily="50" charset="0"/>
              </a:rPr>
              <a:t>, </a:t>
            </a:r>
            <a:r>
              <a:rPr lang="en-IN" sz="1100" b="1" dirty="0">
                <a:solidFill>
                  <a:srgbClr val="C00000"/>
                </a:solidFill>
                <a:latin typeface="Museo 300" panose="02000000000000000000" pitchFamily="50" charset="0"/>
              </a:rPr>
              <a:t>Accredited By NBA and NAAC</a:t>
            </a:r>
            <a:endParaRPr lang="en-US" sz="1100" b="1" dirty="0">
              <a:solidFill>
                <a:srgbClr val="C00000"/>
              </a:solidFill>
              <a:latin typeface="Museo 300" panose="02000000000000000000" pitchFamily="50" charset="0"/>
            </a:endParaRPr>
          </a:p>
        </p:txBody>
      </p:sp>
    </p:spTree>
    <p:extLst>
      <p:ext uri="{BB962C8B-B14F-4D97-AF65-F5344CB8AC3E}">
        <p14:creationId xmlns:p14="http://schemas.microsoft.com/office/powerpoint/2010/main" val="1486085950"/>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9663</TotalTime>
  <Words>2564</Words>
  <Application>Microsoft Office PowerPoint</Application>
  <PresentationFormat>Widescreen</PresentationFormat>
  <Paragraphs>144</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Arial</vt:lpstr>
      <vt:lpstr>Calibri Light</vt:lpstr>
      <vt:lpstr>Google Sans Text</vt:lpstr>
      <vt:lpstr>Museo 300</vt:lpstr>
      <vt:lpstr>Museo 700</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Gayathre Vaidyanathan</cp:lastModifiedBy>
  <cp:revision>429</cp:revision>
  <dcterms:created xsi:type="dcterms:W3CDTF">2020-04-16T15:12:46Z</dcterms:created>
  <dcterms:modified xsi:type="dcterms:W3CDTF">2026-04-08T13:28:56Z</dcterms:modified>
</cp:coreProperties>
</file>